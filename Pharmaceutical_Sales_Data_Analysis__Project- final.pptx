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1"/>
  </p:sldMasterIdLst>
  <p:notesMasterIdLst>
    <p:notesMasterId r:id="rId27"/>
  </p:notesMasterIdLst>
  <p:sldIdLst>
    <p:sldId id="256" r:id="rId2"/>
    <p:sldId id="258" r:id="rId3"/>
    <p:sldId id="257" r:id="rId4"/>
    <p:sldId id="259" r:id="rId5"/>
    <p:sldId id="267" r:id="rId6"/>
    <p:sldId id="261" r:id="rId7"/>
    <p:sldId id="272" r:id="rId8"/>
    <p:sldId id="295" r:id="rId9"/>
    <p:sldId id="296" r:id="rId10"/>
    <p:sldId id="297" r:id="rId11"/>
    <p:sldId id="299" r:id="rId12"/>
    <p:sldId id="300" r:id="rId13"/>
    <p:sldId id="301" r:id="rId14"/>
    <p:sldId id="302" r:id="rId15"/>
    <p:sldId id="303" r:id="rId16"/>
    <p:sldId id="289" r:id="rId17"/>
    <p:sldId id="290" r:id="rId18"/>
    <p:sldId id="304" r:id="rId19"/>
    <p:sldId id="286" r:id="rId20"/>
    <p:sldId id="287" r:id="rId21"/>
    <p:sldId id="288" r:id="rId22"/>
    <p:sldId id="305" r:id="rId23"/>
    <p:sldId id="306" r:id="rId24"/>
    <p:sldId id="265" r:id="rId25"/>
    <p:sldId id="266" r:id="rId26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4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urhan hashad" userId="98a59b2972e54ede" providerId="LiveId" clId="{CB6C2062-8A8D-4B5E-AF2B-2CADFBAFC3D2}"/>
    <pc:docChg chg="undo custSel addSld delSld modSld">
      <pc:chgData name="nourhan hashad" userId="98a59b2972e54ede" providerId="LiveId" clId="{CB6C2062-8A8D-4B5E-AF2B-2CADFBAFC3D2}" dt="2025-12-05T12:57:25.945" v="767" actId="207"/>
      <pc:docMkLst>
        <pc:docMk/>
      </pc:docMkLst>
      <pc:sldChg chg="del">
        <pc:chgData name="nourhan hashad" userId="98a59b2972e54ede" providerId="LiveId" clId="{CB6C2062-8A8D-4B5E-AF2B-2CADFBAFC3D2}" dt="2025-12-05T11:41:12.794" v="27" actId="47"/>
        <pc:sldMkLst>
          <pc:docMk/>
          <pc:sldMk cId="0" sldId="260"/>
        </pc:sldMkLst>
      </pc:sldChg>
      <pc:sldChg chg="del">
        <pc:chgData name="nourhan hashad" userId="98a59b2972e54ede" providerId="LiveId" clId="{CB6C2062-8A8D-4B5E-AF2B-2CADFBAFC3D2}" dt="2025-12-05T11:41:23.455" v="30" actId="47"/>
        <pc:sldMkLst>
          <pc:docMk/>
          <pc:sldMk cId="4073919252" sldId="262"/>
        </pc:sldMkLst>
      </pc:sldChg>
      <pc:sldChg chg="del">
        <pc:chgData name="nourhan hashad" userId="98a59b2972e54ede" providerId="LiveId" clId="{CB6C2062-8A8D-4B5E-AF2B-2CADFBAFC3D2}" dt="2025-12-05T11:41:57.257" v="31" actId="47"/>
        <pc:sldMkLst>
          <pc:docMk/>
          <pc:sldMk cId="0" sldId="263"/>
        </pc:sldMkLst>
      </pc:sldChg>
      <pc:sldChg chg="delSp modSp del mod">
        <pc:chgData name="nourhan hashad" userId="98a59b2972e54ede" providerId="LiveId" clId="{CB6C2062-8A8D-4B5E-AF2B-2CADFBAFC3D2}" dt="2025-12-05T11:56:07.223" v="144" actId="47"/>
        <pc:sldMkLst>
          <pc:docMk/>
          <pc:sldMk cId="0" sldId="264"/>
        </pc:sldMkLst>
        <pc:spChg chg="mod">
          <ac:chgData name="nourhan hashad" userId="98a59b2972e54ede" providerId="LiveId" clId="{CB6C2062-8A8D-4B5E-AF2B-2CADFBAFC3D2}" dt="2025-12-05T11:55:14.355" v="143" actId="1038"/>
          <ac:spMkLst>
            <pc:docMk/>
            <pc:sldMk cId="0" sldId="264"/>
            <ac:spMk id="4" creationId="{00000000-0000-0000-0000-000000000000}"/>
          </ac:spMkLst>
        </pc:spChg>
        <pc:spChg chg="mod">
          <ac:chgData name="nourhan hashad" userId="98a59b2972e54ede" providerId="LiveId" clId="{CB6C2062-8A8D-4B5E-AF2B-2CADFBAFC3D2}" dt="2025-12-05T11:55:14.355" v="143" actId="1038"/>
          <ac:spMkLst>
            <pc:docMk/>
            <pc:sldMk cId="0" sldId="264"/>
            <ac:spMk id="5" creationId="{00000000-0000-0000-0000-000000000000}"/>
          </ac:spMkLst>
        </pc:spChg>
        <pc:spChg chg="mod">
          <ac:chgData name="nourhan hashad" userId="98a59b2972e54ede" providerId="LiveId" clId="{CB6C2062-8A8D-4B5E-AF2B-2CADFBAFC3D2}" dt="2025-12-05T11:55:14.355" v="143" actId="1038"/>
          <ac:spMkLst>
            <pc:docMk/>
            <pc:sldMk cId="0" sldId="264"/>
            <ac:spMk id="6" creationId="{00000000-0000-0000-0000-000000000000}"/>
          </ac:spMkLst>
        </pc:spChg>
        <pc:spChg chg="mod">
          <ac:chgData name="nourhan hashad" userId="98a59b2972e54ede" providerId="LiveId" clId="{CB6C2062-8A8D-4B5E-AF2B-2CADFBAFC3D2}" dt="2025-12-05T11:55:14.355" v="143" actId="1038"/>
          <ac:spMkLst>
            <pc:docMk/>
            <pc:sldMk cId="0" sldId="264"/>
            <ac:spMk id="7" creationId="{00000000-0000-0000-0000-000000000000}"/>
          </ac:spMkLst>
        </pc:spChg>
        <pc:spChg chg="mod">
          <ac:chgData name="nourhan hashad" userId="98a59b2972e54ede" providerId="LiveId" clId="{CB6C2062-8A8D-4B5E-AF2B-2CADFBAFC3D2}" dt="2025-12-05T11:55:14.355" v="143" actId="1038"/>
          <ac:spMkLst>
            <pc:docMk/>
            <pc:sldMk cId="0" sldId="264"/>
            <ac:spMk id="8" creationId="{00000000-0000-0000-0000-000000000000}"/>
          </ac:spMkLst>
        </pc:spChg>
        <pc:spChg chg="mod">
          <ac:chgData name="nourhan hashad" userId="98a59b2972e54ede" providerId="LiveId" clId="{CB6C2062-8A8D-4B5E-AF2B-2CADFBAFC3D2}" dt="2025-12-05T11:55:14.355" v="143" actId="1038"/>
          <ac:spMkLst>
            <pc:docMk/>
            <pc:sldMk cId="0" sldId="264"/>
            <ac:spMk id="9" creationId="{00000000-0000-0000-0000-000000000000}"/>
          </ac:spMkLst>
        </pc:spChg>
        <pc:spChg chg="mod">
          <ac:chgData name="nourhan hashad" userId="98a59b2972e54ede" providerId="LiveId" clId="{CB6C2062-8A8D-4B5E-AF2B-2CADFBAFC3D2}" dt="2025-12-05T11:55:14.355" v="143" actId="1038"/>
          <ac:spMkLst>
            <pc:docMk/>
            <pc:sldMk cId="0" sldId="264"/>
            <ac:spMk id="10" creationId="{00000000-0000-0000-0000-000000000000}"/>
          </ac:spMkLst>
        </pc:spChg>
        <pc:spChg chg="mod">
          <ac:chgData name="nourhan hashad" userId="98a59b2972e54ede" providerId="LiveId" clId="{CB6C2062-8A8D-4B5E-AF2B-2CADFBAFC3D2}" dt="2025-12-05T11:55:14.355" v="143" actId="1038"/>
          <ac:spMkLst>
            <pc:docMk/>
            <pc:sldMk cId="0" sldId="264"/>
            <ac:spMk id="11" creationId="{00000000-0000-0000-0000-000000000000}"/>
          </ac:spMkLst>
        </pc:spChg>
        <pc:spChg chg="mod">
          <ac:chgData name="nourhan hashad" userId="98a59b2972e54ede" providerId="LiveId" clId="{CB6C2062-8A8D-4B5E-AF2B-2CADFBAFC3D2}" dt="2025-12-05T11:55:14.355" v="143" actId="1038"/>
          <ac:spMkLst>
            <pc:docMk/>
            <pc:sldMk cId="0" sldId="264"/>
            <ac:spMk id="12" creationId="{6EF76E35-F967-5B29-E735-9EF61ECC7496}"/>
          </ac:spMkLst>
        </pc:spChg>
        <pc:picChg chg="del">
          <ac:chgData name="nourhan hashad" userId="98a59b2972e54ede" providerId="LiveId" clId="{CB6C2062-8A8D-4B5E-AF2B-2CADFBAFC3D2}" dt="2025-12-05T11:55:03.702" v="106" actId="478"/>
          <ac:picMkLst>
            <pc:docMk/>
            <pc:sldMk cId="0" sldId="264"/>
            <ac:picMk id="2" creationId="{00000000-0000-0000-0000-000000000000}"/>
          </ac:picMkLst>
        </pc:picChg>
      </pc:sldChg>
      <pc:sldChg chg="delSp modSp mod">
        <pc:chgData name="nourhan hashad" userId="98a59b2972e54ede" providerId="LiveId" clId="{CB6C2062-8A8D-4B5E-AF2B-2CADFBAFC3D2}" dt="2025-12-05T12:57:25.945" v="767" actId="207"/>
        <pc:sldMkLst>
          <pc:docMk/>
          <pc:sldMk cId="0" sldId="265"/>
        </pc:sldMkLst>
        <pc:spChg chg="mod">
          <ac:chgData name="nourhan hashad" userId="98a59b2972e54ede" providerId="LiveId" clId="{CB6C2062-8A8D-4B5E-AF2B-2CADFBAFC3D2}" dt="2025-12-05T12:29:58.597" v="593" actId="14100"/>
          <ac:spMkLst>
            <pc:docMk/>
            <pc:sldMk cId="0" sldId="265"/>
            <ac:spMk id="3" creationId="{00000000-0000-0000-0000-000000000000}"/>
          </ac:spMkLst>
        </pc:spChg>
        <pc:spChg chg="del mod">
          <ac:chgData name="nourhan hashad" userId="98a59b2972e54ede" providerId="LiveId" clId="{CB6C2062-8A8D-4B5E-AF2B-2CADFBAFC3D2}" dt="2025-12-05T12:30:15.062" v="595" actId="478"/>
          <ac:spMkLst>
            <pc:docMk/>
            <pc:sldMk cId="0" sldId="265"/>
            <ac:spMk id="4" creationId="{00000000-0000-0000-0000-000000000000}"/>
          </ac:spMkLst>
        </pc:spChg>
        <pc:spChg chg="del mod">
          <ac:chgData name="nourhan hashad" userId="98a59b2972e54ede" providerId="LiveId" clId="{CB6C2062-8A8D-4B5E-AF2B-2CADFBAFC3D2}" dt="2025-12-05T12:30:11.145" v="594" actId="478"/>
          <ac:spMkLst>
            <pc:docMk/>
            <pc:sldMk cId="0" sldId="265"/>
            <ac:spMk id="5" creationId="{00000000-0000-0000-0000-000000000000}"/>
          </ac:spMkLst>
        </pc:spChg>
        <pc:spChg chg="mod">
          <ac:chgData name="nourhan hashad" userId="98a59b2972e54ede" providerId="LiveId" clId="{CB6C2062-8A8D-4B5E-AF2B-2CADFBAFC3D2}" dt="2025-12-05T12:34:26.236" v="673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nourhan hashad" userId="98a59b2972e54ede" providerId="LiveId" clId="{CB6C2062-8A8D-4B5E-AF2B-2CADFBAFC3D2}" dt="2025-12-05T12:57:25.945" v="767" actId="207"/>
          <ac:spMkLst>
            <pc:docMk/>
            <pc:sldMk cId="0" sldId="265"/>
            <ac:spMk id="7" creationId="{00000000-0000-0000-0000-000000000000}"/>
          </ac:spMkLst>
        </pc:spChg>
        <pc:spChg chg="del mod">
          <ac:chgData name="nourhan hashad" userId="98a59b2972e54ede" providerId="LiveId" clId="{CB6C2062-8A8D-4B5E-AF2B-2CADFBAFC3D2}" dt="2025-12-05T12:48:01.904" v="677" actId="478"/>
          <ac:spMkLst>
            <pc:docMk/>
            <pc:sldMk cId="0" sldId="265"/>
            <ac:spMk id="8" creationId="{00000000-0000-0000-0000-000000000000}"/>
          </ac:spMkLst>
        </pc:spChg>
        <pc:spChg chg="del mod">
          <ac:chgData name="nourhan hashad" userId="98a59b2972e54ede" providerId="LiveId" clId="{CB6C2062-8A8D-4B5E-AF2B-2CADFBAFC3D2}" dt="2025-12-05T12:48:01.904" v="677" actId="478"/>
          <ac:spMkLst>
            <pc:docMk/>
            <pc:sldMk cId="0" sldId="265"/>
            <ac:spMk id="9" creationId="{00000000-0000-0000-0000-000000000000}"/>
          </ac:spMkLst>
        </pc:spChg>
        <pc:spChg chg="del mod">
          <ac:chgData name="nourhan hashad" userId="98a59b2972e54ede" providerId="LiveId" clId="{CB6C2062-8A8D-4B5E-AF2B-2CADFBAFC3D2}" dt="2025-12-05T12:48:01.904" v="677" actId="478"/>
          <ac:spMkLst>
            <pc:docMk/>
            <pc:sldMk cId="0" sldId="265"/>
            <ac:spMk id="10" creationId="{00000000-0000-0000-0000-000000000000}"/>
          </ac:spMkLst>
        </pc:spChg>
        <pc:spChg chg="del mod">
          <ac:chgData name="nourhan hashad" userId="98a59b2972e54ede" providerId="LiveId" clId="{CB6C2062-8A8D-4B5E-AF2B-2CADFBAFC3D2}" dt="2025-12-05T12:48:01.904" v="677" actId="478"/>
          <ac:spMkLst>
            <pc:docMk/>
            <pc:sldMk cId="0" sldId="265"/>
            <ac:spMk id="11" creationId="{00000000-0000-0000-0000-000000000000}"/>
          </ac:spMkLst>
        </pc:spChg>
        <pc:picChg chg="del">
          <ac:chgData name="nourhan hashad" userId="98a59b2972e54ede" providerId="LiveId" clId="{CB6C2062-8A8D-4B5E-AF2B-2CADFBAFC3D2}" dt="2025-12-05T11:56:11.531" v="145" actId="478"/>
          <ac:picMkLst>
            <pc:docMk/>
            <pc:sldMk cId="0" sldId="265"/>
            <ac:picMk id="2" creationId="{00000000-0000-0000-0000-000000000000}"/>
          </ac:picMkLst>
        </pc:picChg>
      </pc:sldChg>
      <pc:sldChg chg="addSp delSp modSp mod">
        <pc:chgData name="nourhan hashad" userId="98a59b2972e54ede" providerId="LiveId" clId="{CB6C2062-8A8D-4B5E-AF2B-2CADFBAFC3D2}" dt="2025-12-05T12:29:24.480" v="585" actId="478"/>
        <pc:sldMkLst>
          <pc:docMk/>
          <pc:sldMk cId="0" sldId="266"/>
        </pc:sldMkLst>
        <pc:spChg chg="del mod">
          <ac:chgData name="nourhan hashad" userId="98a59b2972e54ede" providerId="LiveId" clId="{CB6C2062-8A8D-4B5E-AF2B-2CADFBAFC3D2}" dt="2025-12-05T12:29:24.480" v="585" actId="478"/>
          <ac:spMkLst>
            <pc:docMk/>
            <pc:sldMk cId="0" sldId="266"/>
            <ac:spMk id="3" creationId="{00000000-0000-0000-0000-000000000000}"/>
          </ac:spMkLst>
        </pc:spChg>
        <pc:spChg chg="del">
          <ac:chgData name="nourhan hashad" userId="98a59b2972e54ede" providerId="LiveId" clId="{CB6C2062-8A8D-4B5E-AF2B-2CADFBAFC3D2}" dt="2025-12-05T12:29:16.218" v="574" actId="478"/>
          <ac:spMkLst>
            <pc:docMk/>
            <pc:sldMk cId="0" sldId="266"/>
            <ac:spMk id="4" creationId="{00000000-0000-0000-0000-000000000000}"/>
          </ac:spMkLst>
        </pc:spChg>
        <pc:spChg chg="del">
          <ac:chgData name="nourhan hashad" userId="98a59b2972e54ede" providerId="LiveId" clId="{CB6C2062-8A8D-4B5E-AF2B-2CADFBAFC3D2}" dt="2025-12-05T12:27:32.595" v="565" actId="478"/>
          <ac:spMkLst>
            <pc:docMk/>
            <pc:sldMk cId="0" sldId="266"/>
            <ac:spMk id="5" creationId="{00000000-0000-0000-0000-000000000000}"/>
          </ac:spMkLst>
        </pc:spChg>
        <pc:spChg chg="add mod">
          <ac:chgData name="nourhan hashad" userId="98a59b2972e54ede" providerId="LiveId" clId="{CB6C2062-8A8D-4B5E-AF2B-2CADFBAFC3D2}" dt="2025-12-05T12:29:10.796" v="573" actId="33987"/>
          <ac:spMkLst>
            <pc:docMk/>
            <pc:sldMk cId="0" sldId="266"/>
            <ac:spMk id="6" creationId="{E987BF40-72DF-5654-92ED-8D448BEBB18D}"/>
          </ac:spMkLst>
        </pc:spChg>
        <pc:spChg chg="del mod">
          <ac:chgData name="nourhan hashad" userId="98a59b2972e54ede" providerId="LiveId" clId="{CB6C2062-8A8D-4B5E-AF2B-2CADFBAFC3D2}" dt="2025-12-05T12:28:12.699" v="572" actId="478"/>
          <ac:spMkLst>
            <pc:docMk/>
            <pc:sldMk cId="0" sldId="266"/>
            <ac:spMk id="10" creationId="{00000000-0000-0000-0000-000000000000}"/>
          </ac:spMkLst>
        </pc:spChg>
        <pc:picChg chg="del">
          <ac:chgData name="nourhan hashad" userId="98a59b2972e54ede" providerId="LiveId" clId="{CB6C2062-8A8D-4B5E-AF2B-2CADFBAFC3D2}" dt="2025-12-05T11:42:27.418" v="33" actId="478"/>
          <ac:picMkLst>
            <pc:docMk/>
            <pc:sldMk cId="0" sldId="266"/>
            <ac:picMk id="2" creationId="{00000000-0000-0000-0000-000000000000}"/>
          </ac:picMkLst>
        </pc:picChg>
      </pc:sldChg>
      <pc:sldChg chg="del">
        <pc:chgData name="nourhan hashad" userId="98a59b2972e54ede" providerId="LiveId" clId="{CB6C2062-8A8D-4B5E-AF2B-2CADFBAFC3D2}" dt="2025-12-05T11:41:17.399" v="28" actId="47"/>
        <pc:sldMkLst>
          <pc:docMk/>
          <pc:sldMk cId="3468612123" sldId="268"/>
        </pc:sldMkLst>
      </pc:sldChg>
      <pc:sldChg chg="del">
        <pc:chgData name="nourhan hashad" userId="98a59b2972e54ede" providerId="LiveId" clId="{CB6C2062-8A8D-4B5E-AF2B-2CADFBAFC3D2}" dt="2025-12-05T11:41:20.826" v="29" actId="47"/>
        <pc:sldMkLst>
          <pc:docMk/>
          <pc:sldMk cId="1518959434" sldId="269"/>
        </pc:sldMkLst>
      </pc:sldChg>
      <pc:sldChg chg="del">
        <pc:chgData name="nourhan hashad" userId="98a59b2972e54ede" providerId="LiveId" clId="{CB6C2062-8A8D-4B5E-AF2B-2CADFBAFC3D2}" dt="2025-12-05T11:42:00.497" v="32" actId="47"/>
        <pc:sldMkLst>
          <pc:docMk/>
          <pc:sldMk cId="2982169337" sldId="271"/>
        </pc:sldMkLst>
      </pc:sldChg>
      <pc:sldChg chg="modSp add mod">
        <pc:chgData name="nourhan hashad" userId="98a59b2972e54ede" providerId="LiveId" clId="{CB6C2062-8A8D-4B5E-AF2B-2CADFBAFC3D2}" dt="2025-12-05T12:46:10.026" v="675" actId="21"/>
        <pc:sldMkLst>
          <pc:docMk/>
          <pc:sldMk cId="2639446877" sldId="305"/>
        </pc:sldMkLst>
        <pc:spChg chg="mod">
          <ac:chgData name="nourhan hashad" userId="98a59b2972e54ede" providerId="LiveId" clId="{CB6C2062-8A8D-4B5E-AF2B-2CADFBAFC3D2}" dt="2025-12-05T11:51:33.692" v="73" actId="1076"/>
          <ac:spMkLst>
            <pc:docMk/>
            <pc:sldMk cId="2639446877" sldId="305"/>
            <ac:spMk id="2" creationId="{DA67F67B-E521-A21F-97A9-F5C873B874A2}"/>
          </ac:spMkLst>
        </pc:spChg>
        <pc:spChg chg="mod">
          <ac:chgData name="nourhan hashad" userId="98a59b2972e54ede" providerId="LiveId" clId="{CB6C2062-8A8D-4B5E-AF2B-2CADFBAFC3D2}" dt="2025-12-05T12:46:10.026" v="675" actId="21"/>
          <ac:spMkLst>
            <pc:docMk/>
            <pc:sldMk cId="2639446877" sldId="305"/>
            <ac:spMk id="6" creationId="{C867F3EA-986C-752C-476D-AE07F4A99195}"/>
          </ac:spMkLst>
        </pc:spChg>
      </pc:sldChg>
      <pc:sldChg chg="modSp add mod">
        <pc:chgData name="nourhan hashad" userId="98a59b2972e54ede" providerId="LiveId" clId="{CB6C2062-8A8D-4B5E-AF2B-2CADFBAFC3D2}" dt="2025-12-05T11:58:20.345" v="188" actId="20577"/>
        <pc:sldMkLst>
          <pc:docMk/>
          <pc:sldMk cId="3675981542" sldId="306"/>
        </pc:sldMkLst>
        <pc:spChg chg="mod">
          <ac:chgData name="nourhan hashad" userId="98a59b2972e54ede" providerId="LiveId" clId="{CB6C2062-8A8D-4B5E-AF2B-2CADFBAFC3D2}" dt="2025-12-05T11:51:44.023" v="75" actId="1076"/>
          <ac:spMkLst>
            <pc:docMk/>
            <pc:sldMk cId="3675981542" sldId="306"/>
            <ac:spMk id="2" creationId="{1B4791F1-8498-FB99-3ADB-A7A41BD04A26}"/>
          </ac:spMkLst>
        </pc:spChg>
        <pc:spChg chg="mod">
          <ac:chgData name="nourhan hashad" userId="98a59b2972e54ede" providerId="LiveId" clId="{CB6C2062-8A8D-4B5E-AF2B-2CADFBAFC3D2}" dt="2025-12-05T11:58:20.345" v="188" actId="20577"/>
          <ac:spMkLst>
            <pc:docMk/>
            <pc:sldMk cId="3675981542" sldId="306"/>
            <ac:spMk id="6" creationId="{0AEA3849-96FD-E906-FBA2-CB5E4717FD51}"/>
          </ac:spMkLst>
        </pc:spChg>
      </pc:sldChg>
      <pc:sldChg chg="add del">
        <pc:chgData name="nourhan hashad" userId="98a59b2972e54ede" providerId="LiveId" clId="{CB6C2062-8A8D-4B5E-AF2B-2CADFBAFC3D2}" dt="2025-12-05T12:55:18.142" v="755" actId="47"/>
        <pc:sldMkLst>
          <pc:docMk/>
          <pc:sldMk cId="332774642" sldId="30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[Pharmaceutical_Sales_Complete_Data.xlsx]Joseph PVT!PivotTable16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Total Sales</a:t>
            </a:r>
            <a:r>
              <a:rPr lang="en-US" baseline="0"/>
              <a:t> / Profit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412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412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412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'Joseph PVT'!$B$31</c:f>
              <c:strCache>
                <c:ptCount val="1"/>
                <c:pt idx="0">
                  <c:v>Sum of Total_Sales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12700"/>
            </a:effectLst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cat>
            <c:strRef>
              <c:f>'Joseph PVT'!$A$32:$A$35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'Joseph PVT'!$B$32:$B$35</c:f>
              <c:numCache>
                <c:formatCode>General</c:formatCode>
                <c:ptCount val="3"/>
                <c:pt idx="0">
                  <c:v>37706514.840000004</c:v>
                </c:pt>
                <c:pt idx="1">
                  <c:v>35146049.960000001</c:v>
                </c:pt>
                <c:pt idx="2">
                  <c:v>37293619.619999997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02-410C-A7DC-3097791124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1316997743"/>
        <c:axId val="1316991983"/>
      </c:barChart>
      <c:lineChart>
        <c:grouping val="standard"/>
        <c:varyColors val="0"/>
        <c:ser>
          <c:idx val="1"/>
          <c:order val="1"/>
          <c:tx>
            <c:strRef>
              <c:f>'Joseph PVT'!$C$31</c:f>
              <c:strCache>
                <c:ptCount val="1"/>
                <c:pt idx="0">
                  <c:v>Sum of Gross_Profit</c:v>
                </c:pt>
              </c:strCache>
            </c:strRef>
          </c:tx>
          <c:spPr>
            <a:ln w="412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'Joseph PVT'!$A$32:$A$35</c:f>
              <c:strCache>
                <c:ptCount val="3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'Joseph PVT'!$C$32:$C$35</c:f>
              <c:numCache>
                <c:formatCode>General</c:formatCode>
                <c:ptCount val="3"/>
                <c:pt idx="0">
                  <c:v>10853159.84</c:v>
                </c:pt>
                <c:pt idx="1">
                  <c:v>9973484.9600000009</c:v>
                </c:pt>
                <c:pt idx="2">
                  <c:v>10851874.619999999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402-410C-A7DC-3097791124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16997743"/>
        <c:axId val="1316991983"/>
      </c:lineChart>
      <c:catAx>
        <c:axId val="131699774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6991983"/>
        <c:crosses val="autoZero"/>
        <c:auto val="1"/>
        <c:lblAlgn val="ctr"/>
        <c:lblOffset val="100"/>
        <c:noMultiLvlLbl val="0"/>
      </c:catAx>
      <c:valAx>
        <c:axId val="1316991983"/>
        <c:scaling>
          <c:orientation val="minMax"/>
        </c:scaling>
        <c:delete val="0"/>
        <c:axPos val="l"/>
        <c:numFmt formatCode="#,,\ &quot;M&quot;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6997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50800" dist="38100" sx="97000" sy="97000" algn="l" rotWithShape="0">
        <a:prstClr val="black">
          <a:alpha val="40000"/>
        </a:prstClr>
      </a:outerShdw>
      <a:softEdge rad="177800"/>
    </a:effectLst>
    <a:scene3d>
      <a:camera prst="orthographicFront"/>
      <a:lightRig rig="threePt" dir="t"/>
    </a:scene3d>
    <a:sp3d>
      <a:bevelT/>
    </a:sp3d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[Pharmaceutical_Sales_Complete_Data.xlsx]Joseph PVT!PivotTable22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12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Region share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2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21805555555555556"/>
              <c:y val="-7.8703703703703873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3759623797025372"/>
                  <c:h val="0.11673082531350248"/>
                </c:manualLayout>
              </c15:layout>
            </c:ext>
          </c:extLst>
        </c:dLbl>
      </c:pivotFmt>
      <c:pivotFmt>
        <c:idx val="2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9.7223315835520581E-3"/>
              <c:y val="-2.3148148148148147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4934864391951005"/>
                  <c:h val="0.11673082531350248"/>
                </c:manualLayout>
              </c15:layout>
            </c:ext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8.3333333333333072E-3"/>
              <c:y val="-3.240740740740742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9.7223315835520581E-3"/>
              <c:y val="-2.3148148148148147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4934864391951005"/>
                  <c:h val="0.11673082531350248"/>
                </c:manualLayout>
              </c15:layout>
            </c:ext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21805555555555556"/>
              <c:y val="-7.8703703703703873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3759623797025372"/>
                  <c:h val="0.11673082531350248"/>
                </c:manualLayout>
              </c15:layout>
            </c:ext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8.3333333333333072E-3"/>
              <c:y val="-3.2407407407407426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lang="en-US"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>
              <a:glow rad="88900">
                <a:sysClr val="window" lastClr="FFFFFF">
                  <a:lumMod val="85000"/>
                  <a:alpha val="40000"/>
                </a:sysClr>
              </a:glow>
              <a:outerShdw blurRad="50800" dist="12700" dir="5400000" algn="ctr" rotWithShape="0">
                <a:srgbClr val="000000">
                  <a:alpha val="43137"/>
                </a:srgbClr>
              </a:outerShdw>
            </a:effectLst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9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c:spPr>
        <c:dLbl>
          <c:idx val="0"/>
          <c:layout>
            <c:manualLayout>
              <c:x val="4.985374087179073E-2"/>
              <c:y val="-9.2592592592592657E-3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>
              <a:glow rad="88900">
                <a:sysClr val="window" lastClr="FFFFFF">
                  <a:lumMod val="85000"/>
                  <a:alpha val="40000"/>
                </a:sysClr>
              </a:glow>
              <a:outerShdw blurRad="50800" dist="12700" dir="5400000" algn="ctr" rotWithShape="0">
                <a:srgbClr val="000000">
                  <a:alpha val="43137"/>
                </a:srgbClr>
              </a:outerShdw>
            </a:effectLst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22961146249598741"/>
                  <c:h val="0.14450860309128025"/>
                </c:manualLayout>
              </c15:layout>
            </c:ext>
          </c:extLst>
        </c:dLbl>
      </c:pivotFmt>
      <c:pivotFmt>
        <c:idx val="10"/>
        <c:spPr>
          <a:solidFill>
            <a:srgbClr val="16263A"/>
          </a:solidFill>
          <a:ln w="19050">
            <a:solidFill>
              <a:schemeClr val="l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c:spPr>
        <c:dLbl>
          <c:idx val="0"/>
          <c:layout>
            <c:manualLayout>
              <c:x val="0.27479318560789467"/>
              <c:y val="-6.9444444444444614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>
              <a:glow rad="88900">
                <a:sysClr val="window" lastClr="FFFFFF">
                  <a:lumMod val="85000"/>
                  <a:alpha val="40000"/>
                </a:sysClr>
              </a:glow>
              <a:outerShdw blurRad="50800" dist="12700" dir="5400000" algn="ctr" rotWithShape="0">
                <a:srgbClr val="000000">
                  <a:alpha val="43137"/>
                </a:srgbClr>
              </a:outerShdw>
            </a:effectLst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25107149807493195"/>
                  <c:h val="0.135249343832021"/>
                </c:manualLayout>
              </c15:layout>
            </c:ext>
          </c:extLst>
        </c:dLbl>
      </c:pivotFmt>
      <c:pivotFmt>
        <c:idx val="11"/>
        <c:spPr>
          <a:solidFill>
            <a:schemeClr val="accent2">
              <a:lumMod val="75000"/>
            </a:schemeClr>
          </a:solidFill>
          <a:ln w="19050">
            <a:solidFill>
              <a:schemeClr val="l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c:spPr>
        <c:dLbl>
          <c:idx val="0"/>
          <c:layout>
            <c:manualLayout>
              <c:x val="-3.3612062132642083E-2"/>
              <c:y val="4.6296296296296294E-3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>
              <a:glow rad="88900">
                <a:sysClr val="window" lastClr="FFFFFF">
                  <a:lumMod val="85000"/>
                  <a:alpha val="40000"/>
                </a:sysClr>
              </a:glow>
              <a:outerShdw blurRad="50800" dist="12700" dir="5400000" algn="ctr" rotWithShape="0">
                <a:srgbClr val="000000">
                  <a:alpha val="43137"/>
                </a:srgbClr>
              </a:outerShdw>
            </a:effectLst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2110941102964716"/>
                  <c:h val="0.13739647127442403"/>
                </c:manualLayout>
              </c15:layout>
            </c:ext>
          </c:extLst>
        </c:dLbl>
      </c:pivotFmt>
      <c:pivotFmt>
        <c:idx val="12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>
              <a:glow rad="88900">
                <a:sysClr val="window" lastClr="FFFFFF">
                  <a:lumMod val="85000"/>
                  <a:alpha val="40000"/>
                </a:sysClr>
              </a:glow>
              <a:outerShdw blurRad="50800" dist="12700" dir="5400000" algn="ctr" rotWithShape="0">
                <a:srgbClr val="000000">
                  <a:alpha val="43137"/>
                </a:srgbClr>
              </a:outerShdw>
            </a:effectLst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c:spPr>
        <c:dLbl>
          <c:idx val="0"/>
          <c:layout>
            <c:manualLayout>
              <c:x val="4.985374087179073E-2"/>
              <c:y val="-9.2592592592592657E-3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>
              <a:glow rad="88900">
                <a:sysClr val="window" lastClr="FFFFFF">
                  <a:lumMod val="85000"/>
                  <a:alpha val="40000"/>
                </a:sysClr>
              </a:glow>
              <a:outerShdw blurRad="50800" dist="12700" dir="5400000" algn="ctr" rotWithShape="0">
                <a:srgbClr val="000000">
                  <a:alpha val="43137"/>
                </a:srgbClr>
              </a:outerShdw>
            </a:effectLst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22961146249598741"/>
                  <c:h val="0.14450860309128025"/>
                </c:manualLayout>
              </c15:layout>
            </c:ext>
          </c:extLst>
        </c:dLbl>
      </c:pivotFmt>
      <c:pivotFmt>
        <c:idx val="14"/>
        <c:spPr>
          <a:solidFill>
            <a:srgbClr val="16263A"/>
          </a:solidFill>
          <a:ln w="19050">
            <a:solidFill>
              <a:schemeClr val="l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c:spPr>
        <c:dLbl>
          <c:idx val="0"/>
          <c:layout>
            <c:manualLayout>
              <c:x val="0.27479318560789467"/>
              <c:y val="-6.9444444444444614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>
              <a:glow rad="88900">
                <a:sysClr val="window" lastClr="FFFFFF">
                  <a:lumMod val="85000"/>
                  <a:alpha val="40000"/>
                </a:sysClr>
              </a:glow>
              <a:outerShdw blurRad="50800" dist="12700" dir="5400000" algn="ctr" rotWithShape="0">
                <a:srgbClr val="000000">
                  <a:alpha val="43137"/>
                </a:srgbClr>
              </a:outerShdw>
            </a:effectLst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25107149807493195"/>
                  <c:h val="0.135249343832021"/>
                </c:manualLayout>
              </c15:layout>
            </c:ext>
          </c:extLst>
        </c:dLbl>
      </c:pivotFmt>
      <c:pivotFmt>
        <c:idx val="15"/>
        <c:spPr>
          <a:solidFill>
            <a:schemeClr val="accent2">
              <a:lumMod val="75000"/>
            </a:schemeClr>
          </a:solidFill>
          <a:ln w="19050">
            <a:solidFill>
              <a:schemeClr val="l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c:spPr>
        <c:dLbl>
          <c:idx val="0"/>
          <c:layout>
            <c:manualLayout>
              <c:x val="-3.3612062132642083E-2"/>
              <c:y val="4.6296296296296294E-3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>
              <a:glow rad="88900">
                <a:sysClr val="window" lastClr="FFFFFF">
                  <a:lumMod val="85000"/>
                  <a:alpha val="40000"/>
                </a:sysClr>
              </a:glow>
              <a:outerShdw blurRad="50800" dist="12700" dir="5400000" algn="ctr" rotWithShape="0">
                <a:srgbClr val="000000">
                  <a:alpha val="43137"/>
                </a:srgbClr>
              </a:outerShdw>
            </a:effectLst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2110941102964716"/>
                  <c:h val="0.13739647127442403"/>
                </c:manualLayout>
              </c15:layout>
            </c:ext>
          </c:extLst>
        </c:dLbl>
      </c:pivotFmt>
      <c:pivotFmt>
        <c:idx val="16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>
              <a:glow rad="88900">
                <a:sysClr val="window" lastClr="FFFFFF">
                  <a:lumMod val="85000"/>
                  <a:alpha val="40000"/>
                </a:sysClr>
              </a:glow>
              <a:outerShdw blurRad="50800" dist="12700" dir="5400000" algn="ctr" rotWithShape="0">
                <a:srgbClr val="000000">
                  <a:alpha val="43137"/>
                </a:srgbClr>
              </a:outerShdw>
            </a:effectLst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7"/>
        <c:spPr>
          <a:solidFill>
            <a:schemeClr val="accent1"/>
          </a:solidFill>
          <a:ln w="19050">
            <a:solidFill>
              <a:schemeClr val="l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c:spPr>
        <c:dLbl>
          <c:idx val="0"/>
          <c:layout>
            <c:manualLayout>
              <c:x val="4.985374087179073E-2"/>
              <c:y val="-9.2592592592592657E-3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>
              <a:glow rad="88900">
                <a:sysClr val="window" lastClr="FFFFFF">
                  <a:lumMod val="85000"/>
                  <a:alpha val="40000"/>
                </a:sysClr>
              </a:glow>
              <a:outerShdw blurRad="50800" dist="12700" dir="5400000" algn="ctr" rotWithShape="0">
                <a:srgbClr val="000000">
                  <a:alpha val="43137"/>
                </a:srgbClr>
              </a:outerShdw>
            </a:effectLst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22961146249598741"/>
                  <c:h val="0.14450860309128025"/>
                </c:manualLayout>
              </c15:layout>
            </c:ext>
          </c:extLst>
        </c:dLbl>
      </c:pivotFmt>
      <c:pivotFmt>
        <c:idx val="18"/>
        <c:spPr>
          <a:solidFill>
            <a:srgbClr val="16263A"/>
          </a:solidFill>
          <a:ln w="19050">
            <a:solidFill>
              <a:schemeClr val="l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c:spPr>
        <c:dLbl>
          <c:idx val="0"/>
          <c:layout>
            <c:manualLayout>
              <c:x val="0.27479318560789467"/>
              <c:y val="-6.9444444444444614E-2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>
              <a:glow rad="88900">
                <a:sysClr val="window" lastClr="FFFFFF">
                  <a:lumMod val="85000"/>
                  <a:alpha val="40000"/>
                </a:sysClr>
              </a:glow>
              <a:outerShdw blurRad="50800" dist="12700" dir="5400000" algn="ctr" rotWithShape="0">
                <a:srgbClr val="000000">
                  <a:alpha val="43137"/>
                </a:srgbClr>
              </a:outerShdw>
            </a:effectLst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25107149807493195"/>
                  <c:h val="0.135249343832021"/>
                </c:manualLayout>
              </c15:layout>
            </c:ext>
          </c:extLst>
        </c:dLbl>
      </c:pivotFmt>
      <c:pivotFmt>
        <c:idx val="19"/>
        <c:spPr>
          <a:solidFill>
            <a:schemeClr val="accent2">
              <a:lumMod val="75000"/>
            </a:schemeClr>
          </a:solidFill>
          <a:ln w="19050">
            <a:solidFill>
              <a:schemeClr val="l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c:spPr>
        <c:dLbl>
          <c:idx val="0"/>
          <c:layout>
            <c:manualLayout>
              <c:x val="-3.3612062132642083E-2"/>
              <c:y val="4.6296296296296294E-3"/>
            </c:manualLayout>
          </c:layout>
          <c:spPr>
            <a:solidFill>
              <a:sysClr val="window" lastClr="FFFFFF"/>
            </a:solidFill>
            <a:ln>
              <a:solidFill>
                <a:sysClr val="windowText" lastClr="000000">
                  <a:lumMod val="25000"/>
                  <a:lumOff val="75000"/>
                </a:sysClr>
              </a:solidFill>
            </a:ln>
            <a:effectLst>
              <a:glow rad="88900">
                <a:sysClr val="window" lastClr="FFFFFF">
                  <a:lumMod val="85000"/>
                  <a:alpha val="40000"/>
                </a:sysClr>
              </a:glow>
              <a:outerShdw blurRad="50800" dist="12700" dir="5400000" algn="ctr" rotWithShape="0">
                <a:srgbClr val="000000">
                  <a:alpha val="43137"/>
                </a:srgbClr>
              </a:outerShdw>
            </a:effectLst>
          </c:spPr>
          <c:txPr>
            <a:bodyPr rot="0" spcFirstLastPara="1" vertOverflow="clip" horzOverflow="clip" vert="horz" wrap="square" lIns="36576" tIns="18288" rIns="36576" bIns="18288" anchor="ctr" anchorCtr="1">
              <a:spAutoFit/>
            </a:bodyPr>
            <a:lstStyle/>
            <a:p>
              <a:pPr>
                <a:defRPr lang="en-US" sz="1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2110941102964716"/>
                  <c:h val="0.13739647127442403"/>
                </c:manualLayout>
              </c15:layout>
            </c:ext>
          </c:extLst>
        </c:dLbl>
      </c:pivotFmt>
    </c:pivotFmts>
    <c:plotArea>
      <c:layout/>
      <c:pieChart>
        <c:varyColors val="1"/>
        <c:ser>
          <c:idx val="0"/>
          <c:order val="0"/>
          <c:tx>
            <c:strRef>
              <c:f>'Joseph PVT'!$B$63</c:f>
              <c:strCache>
                <c:ptCount val="1"/>
                <c:pt idx="0">
                  <c:v>Total</c:v>
                </c:pt>
              </c:strCache>
            </c:strRef>
          </c:tx>
          <c:spPr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c:spPr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1-9FAE-4AE1-B967-E43DF984CF6C}"/>
              </c:ext>
            </c:extLst>
          </c:dPt>
          <c:dPt>
            <c:idx val="1"/>
            <c:bubble3D val="0"/>
            <c:spPr>
              <a:solidFill>
                <a:srgbClr val="16263A"/>
              </a:solidFill>
              <a:ln w="19050">
                <a:solidFill>
                  <a:schemeClr val="lt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3-9FAE-4AE1-B967-E43DF984CF6C}"/>
              </c:ext>
            </c:extLst>
          </c:dPt>
          <c:dPt>
            <c:idx val="2"/>
            <c:bubble3D val="0"/>
            <c:spPr>
              <a:solidFill>
                <a:schemeClr val="accent2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5-9FAE-4AE1-B967-E43DF984CF6C}"/>
              </c:ext>
            </c:extLst>
          </c:dPt>
          <c:dLbls>
            <c:dLbl>
              <c:idx val="0"/>
              <c:layout>
                <c:manualLayout>
                  <c:x val="4.985374087179073E-2"/>
                  <c:y val="-9.2592592592592657E-3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2961146249598741"/>
                      <c:h val="0.14450860309128025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9FAE-4AE1-B967-E43DF984CF6C}"/>
                </c:ext>
              </c:extLst>
            </c:dLbl>
            <c:dLbl>
              <c:idx val="1"/>
              <c:layout>
                <c:manualLayout>
                  <c:x val="0.27479318560789467"/>
                  <c:y val="-6.9444444444444614E-2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5107149807493195"/>
                      <c:h val="0.13524934383202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9FAE-4AE1-B967-E43DF984CF6C}"/>
                </c:ext>
              </c:extLst>
            </c:dLbl>
            <c:dLbl>
              <c:idx val="2"/>
              <c:layout>
                <c:manualLayout>
                  <c:x val="-3.3612062132642083E-2"/>
                  <c:y val="4.6296296296296294E-3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110941102964716"/>
                      <c:h val="0.13739647127442403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9FAE-4AE1-B967-E43DF984CF6C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ysClr val="windowText" lastClr="000000">
                    <a:lumMod val="25000"/>
                    <a:lumOff val="75000"/>
                  </a:sysClr>
                </a:solidFill>
              </a:ln>
              <a:effectLst>
                <a:glow rad="88900">
                  <a:sysClr val="window" lastClr="FFFFFF">
                    <a:lumMod val="85000"/>
                    <a:alpha val="40000"/>
                  </a:sysClr>
                </a:glow>
                <a:outerShdw blurRad="50800" dist="12700" dir="5400000" algn="ctr" rotWithShape="0">
                  <a:srgbClr val="000000">
                    <a:alpha val="43137"/>
                  </a:srgbClr>
                </a:outerShdw>
              </a:effectLst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lang="en-US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'Joseph PVT'!$A$64:$A$67</c:f>
              <c:strCache>
                <c:ptCount val="3"/>
                <c:pt idx="0">
                  <c:v>Asia</c:v>
                </c:pt>
                <c:pt idx="1">
                  <c:v>Europe</c:v>
                </c:pt>
                <c:pt idx="2">
                  <c:v>North America</c:v>
                </c:pt>
              </c:strCache>
            </c:strRef>
          </c:cat>
          <c:val>
            <c:numRef>
              <c:f>'Joseph PVT'!$B$64:$B$67</c:f>
              <c:numCache>
                <c:formatCode>0.00%</c:formatCode>
                <c:ptCount val="3"/>
                <c:pt idx="0">
                  <c:v>0.24638507691304373</c:v>
                </c:pt>
                <c:pt idx="1">
                  <c:v>0.50387446811931969</c:v>
                </c:pt>
                <c:pt idx="2">
                  <c:v>0.24974045496763655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FAE-4AE1-B967-E43DF984CF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50800" dist="38100" algn="l" rotWithShape="0">
        <a:prstClr val="black">
          <a:alpha val="40000"/>
        </a:prstClr>
      </a:outerShdw>
      <a:softEdge rad="0"/>
    </a:effectLst>
    <a:scene3d>
      <a:camera prst="orthographicFront"/>
      <a:lightRig rig="threePt" dir="t"/>
    </a:scene3d>
    <a:sp3d>
      <a:bevelT/>
    </a:sp3d>
  </c:spPr>
  <c:txPr>
    <a:bodyPr/>
    <a:lstStyle/>
    <a:p>
      <a:pPr>
        <a:defRPr lang="en-US" sz="10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[Pharmaceutical_Sales_Complete_Data.xlsx]Joseph PVT!PivotTable30</c:name>
    <c:fmtId val="2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Distributor</a:t>
            </a:r>
            <a:r>
              <a:rPr lang="en-US" baseline="0"/>
              <a:t> performance over years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C00000"/>
          </a:solidFill>
          <a:ln>
            <a:noFill/>
          </a:ln>
          <a:effectLst/>
        </c:spPr>
      </c:pivotFmt>
      <c:pivotFmt>
        <c:idx val="7"/>
        <c:spPr>
          <a:solidFill>
            <a:srgbClr val="FF0000"/>
          </a:solidFill>
          <a:ln>
            <a:noFill/>
          </a:ln>
          <a:effectLst/>
        </c:spPr>
      </c:pivotFmt>
      <c:pivotFmt>
        <c:idx val="8"/>
        <c:spPr>
          <a:solidFill>
            <a:srgbClr val="FF3300"/>
          </a:solidFill>
          <a:ln>
            <a:noFill/>
          </a:ln>
          <a:effectLst/>
        </c:spPr>
      </c:pivotFmt>
      <c:pivotFmt>
        <c:idx val="9"/>
        <c:spPr>
          <a:solidFill>
            <a:srgbClr val="14FA19"/>
          </a:solidFill>
          <a:ln>
            <a:noFill/>
          </a:ln>
          <a:effectLst/>
        </c:spPr>
      </c:pivotFmt>
      <c:pivotFmt>
        <c:idx val="10"/>
        <c:spPr>
          <a:solidFill>
            <a:srgbClr val="14FA19"/>
          </a:solidFill>
          <a:ln>
            <a:noFill/>
          </a:ln>
          <a:effectLst/>
        </c:spPr>
      </c:pivotFmt>
      <c:pivotFmt>
        <c:idx val="11"/>
        <c:spPr>
          <a:solidFill>
            <a:srgbClr val="14FA19"/>
          </a:solidFill>
          <a:ln>
            <a:noFill/>
          </a:ln>
          <a:effectLst/>
        </c:spPr>
      </c:pivotFmt>
      <c:pivotFmt>
        <c:idx val="12"/>
        <c:spPr>
          <a:solidFill>
            <a:srgbClr val="14FA19"/>
          </a:solidFill>
          <a:ln>
            <a:noFill/>
          </a:ln>
          <a:effectLst/>
        </c:spPr>
      </c:pivotFmt>
      <c:pivotFmt>
        <c:idx val="13"/>
        <c:spPr>
          <a:solidFill>
            <a:srgbClr val="14FA19"/>
          </a:solidFill>
          <a:ln>
            <a:noFill/>
          </a:ln>
          <a:effectLst/>
        </c:spPr>
      </c:pivotFmt>
      <c:pivotFmt>
        <c:idx val="14"/>
        <c:spPr>
          <a:solidFill>
            <a:srgbClr val="14FA19"/>
          </a:solidFill>
          <a:ln>
            <a:noFill/>
          </a:ln>
          <a:effectLst/>
        </c:spPr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rgbClr val="14FA19"/>
          </a:solidFill>
          <a:ln>
            <a:noFill/>
          </a:ln>
          <a:effectLst/>
        </c:spPr>
      </c:pivotFmt>
      <c:pivotFmt>
        <c:idx val="17"/>
        <c:spPr>
          <a:solidFill>
            <a:srgbClr val="14FA19"/>
          </a:solidFill>
          <a:ln>
            <a:noFill/>
          </a:ln>
          <a:effectLst/>
        </c:spPr>
      </c:pivotFmt>
      <c:pivotFmt>
        <c:idx val="18"/>
        <c:spPr>
          <a:solidFill>
            <a:srgbClr val="14FA19"/>
          </a:solidFill>
          <a:ln>
            <a:noFill/>
          </a:ln>
          <a:effectLst/>
        </c:spPr>
      </c:pivotFmt>
      <c:pivotFmt>
        <c:idx val="19"/>
        <c:spPr>
          <a:solidFill>
            <a:srgbClr val="C00000"/>
          </a:solidFill>
          <a:ln>
            <a:noFill/>
          </a:ln>
          <a:effectLst/>
        </c:spPr>
      </c:pivotFmt>
      <c:pivotFmt>
        <c:idx val="20"/>
        <c:spPr>
          <a:solidFill>
            <a:srgbClr val="FF0000"/>
          </a:solidFill>
          <a:ln>
            <a:noFill/>
          </a:ln>
          <a:effectLst/>
        </c:spPr>
      </c:pivotFmt>
      <c:pivotFmt>
        <c:idx val="21"/>
        <c:spPr>
          <a:solidFill>
            <a:srgbClr val="FF3300"/>
          </a:solidFill>
          <a:ln>
            <a:noFill/>
          </a:ln>
          <a:effectLst/>
        </c:spPr>
      </c:pivotFmt>
      <c:pivotFmt>
        <c:idx val="22"/>
        <c:spPr>
          <a:solidFill>
            <a:srgbClr val="14FA19"/>
          </a:solidFill>
          <a:ln>
            <a:noFill/>
          </a:ln>
          <a:effectLst/>
        </c:spPr>
      </c:pivotFmt>
      <c:pivotFmt>
        <c:idx val="23"/>
        <c:spPr>
          <a:solidFill>
            <a:srgbClr val="14FA19"/>
          </a:solidFill>
          <a:ln>
            <a:noFill/>
          </a:ln>
          <a:effectLst/>
        </c:spPr>
      </c:pivotFmt>
      <c:pivotFmt>
        <c:idx val="24"/>
        <c:spPr>
          <a:solidFill>
            <a:srgbClr val="14FA19"/>
          </a:solidFill>
          <a:ln>
            <a:noFill/>
          </a:ln>
          <a:effectLst/>
        </c:spPr>
      </c:pivotFmt>
      <c:pivotFmt>
        <c:idx val="25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rgbClr val="14FA19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</c:pivotFmt>
      <c:pivotFmt>
        <c:idx val="27"/>
        <c:spPr>
          <a:solidFill>
            <a:srgbClr val="14FA19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</c:pivotFmt>
      <c:pivotFmt>
        <c:idx val="28"/>
        <c:spPr>
          <a:solidFill>
            <a:srgbClr val="14FA19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</c:pivotFmt>
      <c:pivotFmt>
        <c:idx val="29"/>
        <c:spPr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</c:pivotFmt>
      <c:pivotFmt>
        <c:idx val="30"/>
        <c:spPr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</c:pivotFmt>
      <c:pivotFmt>
        <c:idx val="31"/>
        <c:spPr>
          <a:solidFill>
            <a:srgbClr val="FF3300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</c:pivotFmt>
      <c:pivotFmt>
        <c:idx val="32"/>
        <c:spPr>
          <a:solidFill>
            <a:srgbClr val="14FA19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</c:pivotFmt>
      <c:pivotFmt>
        <c:idx val="33"/>
        <c:spPr>
          <a:solidFill>
            <a:srgbClr val="14FA19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</c:pivotFmt>
      <c:pivotFmt>
        <c:idx val="34"/>
        <c:spPr>
          <a:solidFill>
            <a:srgbClr val="14FA19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</c:pivotFmt>
      <c:pivotFmt>
        <c:idx val="35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6"/>
        <c:spPr>
          <a:solidFill>
            <a:srgbClr val="14FA19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</c:pivotFmt>
      <c:pivotFmt>
        <c:idx val="37"/>
        <c:spPr>
          <a:solidFill>
            <a:srgbClr val="14FA19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</c:pivotFmt>
      <c:pivotFmt>
        <c:idx val="38"/>
        <c:spPr>
          <a:solidFill>
            <a:srgbClr val="14FA19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</c:pivotFmt>
      <c:pivotFmt>
        <c:idx val="39"/>
        <c:spPr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</c:pivotFmt>
      <c:pivotFmt>
        <c:idx val="40"/>
        <c:spPr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</c:pivotFmt>
      <c:pivotFmt>
        <c:idx val="41"/>
        <c:spPr>
          <a:solidFill>
            <a:srgbClr val="FF3300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</c:pivotFmt>
      <c:pivotFmt>
        <c:idx val="42"/>
        <c:spPr>
          <a:solidFill>
            <a:srgbClr val="14FA19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</c:pivotFmt>
      <c:pivotFmt>
        <c:idx val="43"/>
        <c:spPr>
          <a:solidFill>
            <a:srgbClr val="14FA19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</c:pivotFmt>
      <c:pivotFmt>
        <c:idx val="44"/>
        <c:spPr>
          <a:solidFill>
            <a:srgbClr val="14FA19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</c:pivotFmt>
      <c:pivotFmt>
        <c:idx val="45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6"/>
        <c:spPr>
          <a:solidFill>
            <a:srgbClr val="14FA19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</c:pivotFmt>
      <c:pivotFmt>
        <c:idx val="47"/>
        <c:spPr>
          <a:solidFill>
            <a:srgbClr val="14FA19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</c:pivotFmt>
      <c:pivotFmt>
        <c:idx val="48"/>
        <c:spPr>
          <a:solidFill>
            <a:srgbClr val="14FA19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</c:pivotFmt>
      <c:pivotFmt>
        <c:idx val="49"/>
        <c:spPr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</c:pivotFmt>
      <c:pivotFmt>
        <c:idx val="50"/>
        <c:spPr>
          <a:solidFill>
            <a:srgbClr val="FF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</c:pivotFmt>
      <c:pivotFmt>
        <c:idx val="51"/>
        <c:spPr>
          <a:solidFill>
            <a:srgbClr val="FF3300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</c:pivotFmt>
      <c:pivotFmt>
        <c:idx val="52"/>
        <c:spPr>
          <a:solidFill>
            <a:srgbClr val="14FA19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</c:pivotFmt>
      <c:pivotFmt>
        <c:idx val="53"/>
        <c:spPr>
          <a:solidFill>
            <a:srgbClr val="14FA19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</c:pivotFmt>
      <c:pivotFmt>
        <c:idx val="54"/>
        <c:spPr>
          <a:solidFill>
            <a:srgbClr val="14FA19"/>
          </a:solidFill>
          <a:ln>
            <a:noFill/>
          </a:ln>
          <a:effectLst>
            <a:outerShdw blurRad="50800" dist="38100" dir="2700000" algn="tl" rotWithShape="0">
              <a:prstClr val="black">
                <a:alpha val="42000"/>
              </a:prstClr>
            </a:outerShdw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c:spP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'Joseph PVT'!$C$149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2000"/>
                </a:prstClr>
              </a:outerShdw>
              <a:softEdge rad="12700"/>
            </a:effectLst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Pt>
            <c:idx val="3"/>
            <c:invertIfNegative val="0"/>
            <c:bubble3D val="0"/>
            <c:spPr>
              <a:solidFill>
                <a:srgbClr val="14FA19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2000"/>
                  </a:prstClr>
                </a:outerShdw>
                <a:softEdge rad="12700"/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1-4C19-428B-ACFC-CAC28FA5E39E}"/>
              </c:ext>
            </c:extLst>
          </c:dPt>
          <c:dPt>
            <c:idx val="4"/>
            <c:invertIfNegative val="0"/>
            <c:bubble3D val="0"/>
            <c:spPr>
              <a:solidFill>
                <a:srgbClr val="14FA19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2000"/>
                  </a:prstClr>
                </a:outerShdw>
                <a:softEdge rad="12700"/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3-4C19-428B-ACFC-CAC28FA5E39E}"/>
              </c:ext>
            </c:extLst>
          </c:dPt>
          <c:dPt>
            <c:idx val="5"/>
            <c:invertIfNegative val="0"/>
            <c:bubble3D val="0"/>
            <c:spPr>
              <a:solidFill>
                <a:srgbClr val="14FA19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2000"/>
                  </a:prstClr>
                </a:outerShdw>
                <a:softEdge rad="12700"/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5-4C19-428B-ACFC-CAC28FA5E39E}"/>
              </c:ext>
            </c:extLst>
          </c:dPt>
          <c:dPt>
            <c:idx val="9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2000"/>
                  </a:prstClr>
                </a:outerShdw>
                <a:softEdge rad="12700"/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7-4C19-428B-ACFC-CAC28FA5E39E}"/>
              </c:ext>
            </c:extLst>
          </c:dPt>
          <c:dPt>
            <c:idx val="10"/>
            <c:invertIfNegative val="0"/>
            <c:bubble3D val="0"/>
            <c:spPr>
              <a:solidFill>
                <a:srgbClr val="FF000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2000"/>
                  </a:prstClr>
                </a:outerShdw>
                <a:softEdge rad="12700"/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9-4C19-428B-ACFC-CAC28FA5E39E}"/>
              </c:ext>
            </c:extLst>
          </c:dPt>
          <c:dPt>
            <c:idx val="11"/>
            <c:invertIfNegative val="0"/>
            <c:bubble3D val="0"/>
            <c:spPr>
              <a:solidFill>
                <a:srgbClr val="FF3300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2000"/>
                  </a:prstClr>
                </a:outerShdw>
                <a:softEdge rad="12700"/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B-4C19-428B-ACFC-CAC28FA5E39E}"/>
              </c:ext>
            </c:extLst>
          </c:dPt>
          <c:dPt>
            <c:idx val="12"/>
            <c:invertIfNegative val="0"/>
            <c:bubble3D val="0"/>
            <c:spPr>
              <a:solidFill>
                <a:srgbClr val="14FA19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2000"/>
                  </a:prstClr>
                </a:outerShdw>
                <a:softEdge rad="12700"/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D-4C19-428B-ACFC-CAC28FA5E39E}"/>
              </c:ext>
            </c:extLst>
          </c:dPt>
          <c:dPt>
            <c:idx val="13"/>
            <c:invertIfNegative val="0"/>
            <c:bubble3D val="0"/>
            <c:spPr>
              <a:solidFill>
                <a:srgbClr val="14FA19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2000"/>
                  </a:prstClr>
                </a:outerShdw>
                <a:softEdge rad="12700"/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F-4C19-428B-ACFC-CAC28FA5E39E}"/>
              </c:ext>
            </c:extLst>
          </c:dPt>
          <c:dPt>
            <c:idx val="14"/>
            <c:invertIfNegative val="0"/>
            <c:bubble3D val="0"/>
            <c:spPr>
              <a:solidFill>
                <a:srgbClr val="14FA19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2000"/>
                  </a:prstClr>
                </a:outerShdw>
                <a:softEdge rad="12700"/>
              </a:effectLst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11-4C19-428B-ACFC-CAC28FA5E39E}"/>
              </c:ext>
            </c:extLst>
          </c:dPt>
          <c:cat>
            <c:multiLvlStrRef>
              <c:f>'Joseph PVT'!$A$150:$B$165</c:f>
              <c:multiLvlStrCache>
                <c:ptCount val="1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2022</c:v>
                  </c:pt>
                  <c:pt idx="10">
                    <c:v>2023</c:v>
                  </c:pt>
                  <c:pt idx="11">
                    <c:v>2024</c:v>
                  </c:pt>
                  <c:pt idx="12">
                    <c:v>2022</c:v>
                  </c:pt>
                  <c:pt idx="13">
                    <c:v>2023</c:v>
                  </c:pt>
                  <c:pt idx="14">
                    <c:v>2024</c:v>
                  </c:pt>
                </c:lvl>
                <c:lvl>
                  <c:pt idx="0">
                    <c:v>Alliance Healthcare</c:v>
                  </c:pt>
                  <c:pt idx="3">
                    <c:v>AmerisourceBergen</c:v>
                  </c:pt>
                  <c:pt idx="6">
                    <c:v>Cardinal Health</c:v>
                  </c:pt>
                  <c:pt idx="9">
                    <c:v>McKesson Corporation</c:v>
                  </c:pt>
                  <c:pt idx="12">
                    <c:v>Phoenix Group</c:v>
                  </c:pt>
                </c:lvl>
              </c:multiLvlStrCache>
            </c:multiLvlStrRef>
          </c:cat>
          <c:val>
            <c:numRef>
              <c:f>'Joseph PVT'!$C$150:$C$165</c:f>
              <c:numCache>
                <c:formatCode>#,##0</c:formatCode>
                <c:ptCount val="15"/>
                <c:pt idx="0">
                  <c:v>2394706.2400000002</c:v>
                </c:pt>
                <c:pt idx="1">
                  <c:v>2039453.18</c:v>
                </c:pt>
                <c:pt idx="2">
                  <c:v>2265607.0099999998</c:v>
                </c:pt>
                <c:pt idx="3">
                  <c:v>1966116.68</c:v>
                </c:pt>
                <c:pt idx="4">
                  <c:v>1871090.34</c:v>
                </c:pt>
                <c:pt idx="5">
                  <c:v>2362686</c:v>
                </c:pt>
                <c:pt idx="6">
                  <c:v>2000992.24</c:v>
                </c:pt>
                <c:pt idx="7">
                  <c:v>2352584.88</c:v>
                </c:pt>
                <c:pt idx="8">
                  <c:v>2255186.96</c:v>
                </c:pt>
                <c:pt idx="9">
                  <c:v>2492777.16</c:v>
                </c:pt>
                <c:pt idx="10">
                  <c:v>1652329.66</c:v>
                </c:pt>
                <c:pt idx="11">
                  <c:v>1754233.93</c:v>
                </c:pt>
                <c:pt idx="12">
                  <c:v>1998567.52</c:v>
                </c:pt>
                <c:pt idx="13">
                  <c:v>2058026.9</c:v>
                </c:pt>
                <c:pt idx="14">
                  <c:v>2214160.7200000002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4C19-428B-ACFC-CAC28FA5E3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6"/>
        <c:overlap val="-27"/>
        <c:axId val="2026718751"/>
        <c:axId val="2026722111"/>
      </c:barChart>
      <c:catAx>
        <c:axId val="20267187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6722111"/>
        <c:crosses val="autoZero"/>
        <c:auto val="1"/>
        <c:lblAlgn val="ctr"/>
        <c:lblOffset val="100"/>
        <c:noMultiLvlLbl val="0"/>
      </c:catAx>
      <c:valAx>
        <c:axId val="2026722111"/>
        <c:scaling>
          <c:orientation val="minMax"/>
        </c:scaling>
        <c:delete val="0"/>
        <c:axPos val="l"/>
        <c:numFmt formatCode="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67187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>
      <a:outerShdw blurRad="50800" dist="38100" dir="2700000" algn="tl" rotWithShape="0">
        <a:prstClr val="black">
          <a:alpha val="40000"/>
        </a:prstClr>
      </a:outerShdw>
      <a:softEdge rad="31750"/>
    </a:effectLst>
    <a:scene3d>
      <a:camera prst="orthographicFront"/>
      <a:lightRig rig="threePt" dir="t"/>
    </a:scene3d>
    <a:sp3d>
      <a:bevelT/>
    </a:sp3d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[Pharmaceutical_Sales_Complete_Data.xlsx]Joseph PVT!PivotTable5</c:name>
    <c:fmtId val="3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Sales rep profit / years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  <a:scene3d>
            <a:camera prst="orthographicFront"/>
            <a:lightRig rig="threePt" dir="t"/>
          </a:scene3d>
          <a:sp3d>
            <a:bevelT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  <a:scene3d>
            <a:camera prst="orthographicFront"/>
            <a:lightRig rig="threePt" dir="t"/>
          </a:scene3d>
          <a:sp3d>
            <a:bevelT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  <a:scene3d>
            <a:camera prst="orthographicFront"/>
            <a:lightRig rig="threePt" dir="t"/>
          </a:scene3d>
          <a:sp3d>
            <a:bevelT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  <a:scene3d>
            <a:camera prst="orthographicFront"/>
            <a:lightRig rig="threePt" dir="t"/>
          </a:scene3d>
          <a:sp3d>
            <a:bevelT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  <a:scene3d>
            <a:camera prst="orthographicFront"/>
            <a:lightRig rig="threePt" dir="t"/>
          </a:scene3d>
          <a:sp3d>
            <a:bevelT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  <a:scene3d>
            <a:camera prst="orthographicFront"/>
            <a:lightRig rig="threePt" dir="t"/>
          </a:scene3d>
          <a:sp3d>
            <a:bevelT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0"/>
          </a:effectLst>
          <a:scene3d>
            <a:camera prst="orthographicFront"/>
            <a:lightRig rig="threePt" dir="t"/>
          </a:scene3d>
          <a:sp3d>
            <a:bevelT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  <a:scene3d>
            <a:camera prst="orthographicFront"/>
            <a:lightRig rig="threePt" dir="t"/>
          </a:scene3d>
          <a:sp3d>
            <a:bevelT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  <a:scene3d>
            <a:camera prst="orthographicFront"/>
            <a:lightRig rig="threePt" dir="t"/>
          </a:scene3d>
          <a:sp3d>
            <a:bevelT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'Joseph PVT'!$C$242:$C$243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0"/>
            </a:effectLst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cat>
            <c:multiLvlStrRef>
              <c:f>'Joseph PVT'!$A$244:$B$259</c:f>
              <c:multiLvlStrCache>
                <c:ptCount val="15"/>
                <c:lvl>
                  <c:pt idx="0">
                    <c:v>23</c:v>
                  </c:pt>
                  <c:pt idx="1">
                    <c:v>3</c:v>
                  </c:pt>
                  <c:pt idx="2">
                    <c:v>14</c:v>
                  </c:pt>
                  <c:pt idx="3">
                    <c:v>4</c:v>
                  </c:pt>
                  <c:pt idx="4">
                    <c:v>20</c:v>
                  </c:pt>
                  <c:pt idx="5">
                    <c:v>8</c:v>
                  </c:pt>
                  <c:pt idx="6">
                    <c:v>14</c:v>
                  </c:pt>
                  <c:pt idx="7">
                    <c:v>24</c:v>
                  </c:pt>
                  <c:pt idx="8">
                    <c:v>21</c:v>
                  </c:pt>
                  <c:pt idx="9">
                    <c:v>19</c:v>
                  </c:pt>
                  <c:pt idx="10">
                    <c:v>7</c:v>
                  </c:pt>
                  <c:pt idx="11">
                    <c:v>14</c:v>
                  </c:pt>
                  <c:pt idx="12">
                    <c:v>22</c:v>
                  </c:pt>
                  <c:pt idx="13">
                    <c:v>9</c:v>
                  </c:pt>
                  <c:pt idx="14">
                    <c:v>3</c:v>
                  </c:pt>
                </c:lvl>
                <c:lvl>
                  <c:pt idx="0">
                    <c:v>Sales Rep 1</c:v>
                  </c:pt>
                  <c:pt idx="1">
                    <c:v>Sales Rep 10</c:v>
                  </c:pt>
                  <c:pt idx="2">
                    <c:v>Sales Rep 11</c:v>
                  </c:pt>
                  <c:pt idx="3">
                    <c:v>Sales Rep 12</c:v>
                  </c:pt>
                  <c:pt idx="4">
                    <c:v>Sales Rep 13</c:v>
                  </c:pt>
                  <c:pt idx="5">
                    <c:v>Sales Rep 14</c:v>
                  </c:pt>
                  <c:pt idx="6">
                    <c:v>Sales Rep 15</c:v>
                  </c:pt>
                  <c:pt idx="7">
                    <c:v>Sales Rep 2</c:v>
                  </c:pt>
                  <c:pt idx="8">
                    <c:v>Sales Rep 3</c:v>
                  </c:pt>
                  <c:pt idx="9">
                    <c:v>Sales Rep 4</c:v>
                  </c:pt>
                  <c:pt idx="10">
                    <c:v>Sales Rep 5</c:v>
                  </c:pt>
                  <c:pt idx="11">
                    <c:v>Sales Rep 6</c:v>
                  </c:pt>
                  <c:pt idx="12">
                    <c:v>Sales Rep 7</c:v>
                  </c:pt>
                  <c:pt idx="13">
                    <c:v>Sales Rep 8</c:v>
                  </c:pt>
                  <c:pt idx="14">
                    <c:v>Sales Rep 9</c:v>
                  </c:pt>
                </c:lvl>
              </c:multiLvlStrCache>
            </c:multiLvlStrRef>
          </c:cat>
          <c:val>
            <c:numRef>
              <c:f>'Joseph PVT'!$C$244:$C$259</c:f>
              <c:numCache>
                <c:formatCode>#,##0</c:formatCode>
                <c:ptCount val="15"/>
                <c:pt idx="0">
                  <c:v>769586.14</c:v>
                </c:pt>
                <c:pt idx="1">
                  <c:v>724463.14</c:v>
                </c:pt>
                <c:pt idx="2">
                  <c:v>747891.59</c:v>
                </c:pt>
                <c:pt idx="3">
                  <c:v>726166.49</c:v>
                </c:pt>
                <c:pt idx="4">
                  <c:v>577380.82999999996</c:v>
                </c:pt>
                <c:pt idx="5">
                  <c:v>761018.64</c:v>
                </c:pt>
                <c:pt idx="6">
                  <c:v>655964.43000000005</c:v>
                </c:pt>
                <c:pt idx="7">
                  <c:v>811537.43</c:v>
                </c:pt>
                <c:pt idx="8">
                  <c:v>1018217.62</c:v>
                </c:pt>
                <c:pt idx="9">
                  <c:v>676447.56</c:v>
                </c:pt>
                <c:pt idx="10">
                  <c:v>634547.5</c:v>
                </c:pt>
                <c:pt idx="11">
                  <c:v>716352.31</c:v>
                </c:pt>
                <c:pt idx="12">
                  <c:v>557890</c:v>
                </c:pt>
                <c:pt idx="13">
                  <c:v>691065.36</c:v>
                </c:pt>
                <c:pt idx="14">
                  <c:v>784630.8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2E-408E-A102-C9C6265A3A8A}"/>
            </c:ext>
          </c:extLst>
        </c:ser>
        <c:ser>
          <c:idx val="1"/>
          <c:order val="1"/>
          <c:tx>
            <c:strRef>
              <c:f>'Joseph PVT'!$D$242:$D$243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cat>
            <c:multiLvlStrRef>
              <c:f>'Joseph PVT'!$A$244:$B$259</c:f>
              <c:multiLvlStrCache>
                <c:ptCount val="15"/>
                <c:lvl>
                  <c:pt idx="0">
                    <c:v>23</c:v>
                  </c:pt>
                  <c:pt idx="1">
                    <c:v>3</c:v>
                  </c:pt>
                  <c:pt idx="2">
                    <c:v>14</c:v>
                  </c:pt>
                  <c:pt idx="3">
                    <c:v>4</c:v>
                  </c:pt>
                  <c:pt idx="4">
                    <c:v>20</c:v>
                  </c:pt>
                  <c:pt idx="5">
                    <c:v>8</c:v>
                  </c:pt>
                  <c:pt idx="6">
                    <c:v>14</c:v>
                  </c:pt>
                  <c:pt idx="7">
                    <c:v>24</c:v>
                  </c:pt>
                  <c:pt idx="8">
                    <c:v>21</c:v>
                  </c:pt>
                  <c:pt idx="9">
                    <c:v>19</c:v>
                  </c:pt>
                  <c:pt idx="10">
                    <c:v>7</c:v>
                  </c:pt>
                  <c:pt idx="11">
                    <c:v>14</c:v>
                  </c:pt>
                  <c:pt idx="12">
                    <c:v>22</c:v>
                  </c:pt>
                  <c:pt idx="13">
                    <c:v>9</c:v>
                  </c:pt>
                  <c:pt idx="14">
                    <c:v>3</c:v>
                  </c:pt>
                </c:lvl>
                <c:lvl>
                  <c:pt idx="0">
                    <c:v>Sales Rep 1</c:v>
                  </c:pt>
                  <c:pt idx="1">
                    <c:v>Sales Rep 10</c:v>
                  </c:pt>
                  <c:pt idx="2">
                    <c:v>Sales Rep 11</c:v>
                  </c:pt>
                  <c:pt idx="3">
                    <c:v>Sales Rep 12</c:v>
                  </c:pt>
                  <c:pt idx="4">
                    <c:v>Sales Rep 13</c:v>
                  </c:pt>
                  <c:pt idx="5">
                    <c:v>Sales Rep 14</c:v>
                  </c:pt>
                  <c:pt idx="6">
                    <c:v>Sales Rep 15</c:v>
                  </c:pt>
                  <c:pt idx="7">
                    <c:v>Sales Rep 2</c:v>
                  </c:pt>
                  <c:pt idx="8">
                    <c:v>Sales Rep 3</c:v>
                  </c:pt>
                  <c:pt idx="9">
                    <c:v>Sales Rep 4</c:v>
                  </c:pt>
                  <c:pt idx="10">
                    <c:v>Sales Rep 5</c:v>
                  </c:pt>
                  <c:pt idx="11">
                    <c:v>Sales Rep 6</c:v>
                  </c:pt>
                  <c:pt idx="12">
                    <c:v>Sales Rep 7</c:v>
                  </c:pt>
                  <c:pt idx="13">
                    <c:v>Sales Rep 8</c:v>
                  </c:pt>
                  <c:pt idx="14">
                    <c:v>Sales Rep 9</c:v>
                  </c:pt>
                </c:lvl>
              </c:multiLvlStrCache>
            </c:multiLvlStrRef>
          </c:cat>
          <c:val>
            <c:numRef>
              <c:f>'Joseph PVT'!$D$244:$D$259</c:f>
              <c:numCache>
                <c:formatCode>#,##0</c:formatCode>
                <c:ptCount val="15"/>
                <c:pt idx="0">
                  <c:v>667212.62</c:v>
                </c:pt>
                <c:pt idx="1">
                  <c:v>831573.53</c:v>
                </c:pt>
                <c:pt idx="2">
                  <c:v>726127.29</c:v>
                </c:pt>
                <c:pt idx="3">
                  <c:v>432051.94</c:v>
                </c:pt>
                <c:pt idx="4">
                  <c:v>642010.42000000004</c:v>
                </c:pt>
                <c:pt idx="5">
                  <c:v>605026.57999999996</c:v>
                </c:pt>
                <c:pt idx="6">
                  <c:v>788966.57</c:v>
                </c:pt>
                <c:pt idx="7">
                  <c:v>771231.67</c:v>
                </c:pt>
                <c:pt idx="8">
                  <c:v>751249.07</c:v>
                </c:pt>
                <c:pt idx="9">
                  <c:v>814005.76000000001</c:v>
                </c:pt>
                <c:pt idx="10">
                  <c:v>638040.92000000004</c:v>
                </c:pt>
                <c:pt idx="11">
                  <c:v>594503.03</c:v>
                </c:pt>
                <c:pt idx="12">
                  <c:v>573545.07999999996</c:v>
                </c:pt>
                <c:pt idx="13">
                  <c:v>506732.94</c:v>
                </c:pt>
                <c:pt idx="14">
                  <c:v>631207.54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A2E-408E-A102-C9C6265A3A8A}"/>
            </c:ext>
          </c:extLst>
        </c:ser>
        <c:ser>
          <c:idx val="2"/>
          <c:order val="2"/>
          <c:tx>
            <c:strRef>
              <c:f>'Joseph PVT'!$E$242:$E$243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31750"/>
            </a:effectLst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cat>
            <c:multiLvlStrRef>
              <c:f>'Joseph PVT'!$A$244:$B$259</c:f>
              <c:multiLvlStrCache>
                <c:ptCount val="15"/>
                <c:lvl>
                  <c:pt idx="0">
                    <c:v>23</c:v>
                  </c:pt>
                  <c:pt idx="1">
                    <c:v>3</c:v>
                  </c:pt>
                  <c:pt idx="2">
                    <c:v>14</c:v>
                  </c:pt>
                  <c:pt idx="3">
                    <c:v>4</c:v>
                  </c:pt>
                  <c:pt idx="4">
                    <c:v>20</c:v>
                  </c:pt>
                  <c:pt idx="5">
                    <c:v>8</c:v>
                  </c:pt>
                  <c:pt idx="6">
                    <c:v>14</c:v>
                  </c:pt>
                  <c:pt idx="7">
                    <c:v>24</c:v>
                  </c:pt>
                  <c:pt idx="8">
                    <c:v>21</c:v>
                  </c:pt>
                  <c:pt idx="9">
                    <c:v>19</c:v>
                  </c:pt>
                  <c:pt idx="10">
                    <c:v>7</c:v>
                  </c:pt>
                  <c:pt idx="11">
                    <c:v>14</c:v>
                  </c:pt>
                  <c:pt idx="12">
                    <c:v>22</c:v>
                  </c:pt>
                  <c:pt idx="13">
                    <c:v>9</c:v>
                  </c:pt>
                  <c:pt idx="14">
                    <c:v>3</c:v>
                  </c:pt>
                </c:lvl>
                <c:lvl>
                  <c:pt idx="0">
                    <c:v>Sales Rep 1</c:v>
                  </c:pt>
                  <c:pt idx="1">
                    <c:v>Sales Rep 10</c:v>
                  </c:pt>
                  <c:pt idx="2">
                    <c:v>Sales Rep 11</c:v>
                  </c:pt>
                  <c:pt idx="3">
                    <c:v>Sales Rep 12</c:v>
                  </c:pt>
                  <c:pt idx="4">
                    <c:v>Sales Rep 13</c:v>
                  </c:pt>
                  <c:pt idx="5">
                    <c:v>Sales Rep 14</c:v>
                  </c:pt>
                  <c:pt idx="6">
                    <c:v>Sales Rep 15</c:v>
                  </c:pt>
                  <c:pt idx="7">
                    <c:v>Sales Rep 2</c:v>
                  </c:pt>
                  <c:pt idx="8">
                    <c:v>Sales Rep 3</c:v>
                  </c:pt>
                  <c:pt idx="9">
                    <c:v>Sales Rep 4</c:v>
                  </c:pt>
                  <c:pt idx="10">
                    <c:v>Sales Rep 5</c:v>
                  </c:pt>
                  <c:pt idx="11">
                    <c:v>Sales Rep 6</c:v>
                  </c:pt>
                  <c:pt idx="12">
                    <c:v>Sales Rep 7</c:v>
                  </c:pt>
                  <c:pt idx="13">
                    <c:v>Sales Rep 8</c:v>
                  </c:pt>
                  <c:pt idx="14">
                    <c:v>Sales Rep 9</c:v>
                  </c:pt>
                </c:lvl>
              </c:multiLvlStrCache>
            </c:multiLvlStrRef>
          </c:cat>
          <c:val>
            <c:numRef>
              <c:f>'Joseph PVT'!$E$244:$E$259</c:f>
              <c:numCache>
                <c:formatCode>#,##0</c:formatCode>
                <c:ptCount val="15"/>
                <c:pt idx="0">
                  <c:v>850001.41</c:v>
                </c:pt>
                <c:pt idx="1">
                  <c:v>1031176.15</c:v>
                </c:pt>
                <c:pt idx="2">
                  <c:v>778939.41</c:v>
                </c:pt>
                <c:pt idx="3">
                  <c:v>629910.61</c:v>
                </c:pt>
                <c:pt idx="4">
                  <c:v>615787.02</c:v>
                </c:pt>
                <c:pt idx="5">
                  <c:v>576448.4</c:v>
                </c:pt>
                <c:pt idx="6">
                  <c:v>919216.44</c:v>
                </c:pt>
                <c:pt idx="7">
                  <c:v>688612.64</c:v>
                </c:pt>
                <c:pt idx="8">
                  <c:v>593189.82999999996</c:v>
                </c:pt>
                <c:pt idx="9">
                  <c:v>769618.12</c:v>
                </c:pt>
                <c:pt idx="10">
                  <c:v>777233.4</c:v>
                </c:pt>
                <c:pt idx="11">
                  <c:v>620337.77</c:v>
                </c:pt>
                <c:pt idx="12">
                  <c:v>761604.42</c:v>
                </c:pt>
                <c:pt idx="13">
                  <c:v>604067.35</c:v>
                </c:pt>
                <c:pt idx="14">
                  <c:v>635731.65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A2E-408E-A102-C9C6265A3A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6"/>
        <c:overlap val="-27"/>
        <c:axId val="1830235999"/>
        <c:axId val="1830223999"/>
      </c:barChart>
      <c:catAx>
        <c:axId val="1830235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0223999"/>
        <c:crosses val="autoZero"/>
        <c:auto val="1"/>
        <c:lblAlgn val="ctr"/>
        <c:lblOffset val="100"/>
        <c:noMultiLvlLbl val="0"/>
      </c:catAx>
      <c:valAx>
        <c:axId val="1830223999"/>
        <c:scaling>
          <c:orientation val="minMax"/>
        </c:scaling>
        <c:delete val="0"/>
        <c:axPos val="l"/>
        <c:numFmt formatCode="#,,\ &quot;M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30235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3865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E498C-C3A4-96DD-A683-4AEC84506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2E9D35-EAC3-CA6A-8607-667816304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5BF14E-61DD-95E0-239D-1FE8ECC43E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90676D-CEF9-0367-9CD2-8620E67F6F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278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31350-4944-ED86-34FA-F06000888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5836DD-31A9-1286-C5EE-4B8B1A0F4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97DE7B-4591-E78F-0E82-FA296C111E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9388A-1B14-10F5-D4A1-7F1DF1C885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905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E76A0-62AE-2B19-CEB6-5C1754CB6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853435-A8BF-BEDA-B4E6-57820EF94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C7700-C99C-3FC0-1548-76FAEE6C4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769D4-352D-1935-BB9F-021B5AFAC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212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409575" y="-3572"/>
            <a:ext cx="3761184" cy="5147072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6301" y="1035052"/>
            <a:ext cx="6430967" cy="1962149"/>
          </a:xfrm>
        </p:spPr>
        <p:txBody>
          <a:bodyPr anchor="b">
            <a:normAutofit/>
          </a:bodyPr>
          <a:lstStyle>
            <a:lvl1pPr algn="r">
              <a:defRPr sz="45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86533" y="2997200"/>
            <a:ext cx="5240734" cy="1041401"/>
          </a:xfrm>
        </p:spPr>
        <p:txBody>
          <a:bodyPr anchor="t">
            <a:normAutofit/>
          </a:bodyPr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99309" y="4412457"/>
            <a:ext cx="3243033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84843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13893" y="4400349"/>
            <a:ext cx="413375" cy="27384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84724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9210" y="2000249"/>
            <a:ext cx="6698060" cy="1582787"/>
          </a:xfrm>
        </p:spPr>
        <p:txBody>
          <a:bodyPr anchor="b"/>
          <a:lstStyle>
            <a:lvl1pPr algn="r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9209" y="3583036"/>
            <a:ext cx="6698061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71990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235" y="2000250"/>
            <a:ext cx="3671291" cy="2343151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5975" y="2000250"/>
            <a:ext cx="3671292" cy="234315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05-Dec-25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73779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134" y="1993900"/>
            <a:ext cx="345539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233" y="2501503"/>
            <a:ext cx="3671292" cy="18418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366" y="2000250"/>
            <a:ext cx="3466903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5975" y="2501503"/>
            <a:ext cx="3671292" cy="18418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05-Dec-25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663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05-Dec-25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32407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05-Dec-25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8559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1200150"/>
            <a:ext cx="2661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6525" y="514350"/>
            <a:ext cx="4680743" cy="3829051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2228850"/>
            <a:ext cx="2661841" cy="13716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05-Dec-25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95601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043" y="1314449"/>
            <a:ext cx="4069619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6011" y="685800"/>
            <a:ext cx="2460731" cy="3429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043" y="2343149"/>
            <a:ext cx="4069619" cy="1371600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05-Dec-25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68231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3549649"/>
            <a:ext cx="7514033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509" y="699084"/>
            <a:ext cx="6169458" cy="23737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3974702"/>
            <a:ext cx="7514033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05-Dec-25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062906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3" cy="2286000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9024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27609" y="2571749"/>
            <a:ext cx="6399611" cy="28575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35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3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10593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2481436"/>
            <a:ext cx="7514032" cy="1101600"/>
          </a:xfrm>
        </p:spPr>
        <p:txBody>
          <a:bodyPr anchor="b">
            <a:normAutofit/>
          </a:bodyPr>
          <a:lstStyle>
            <a:lvl1pPr algn="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3036"/>
            <a:ext cx="7514033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98436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5" y="2914650"/>
            <a:ext cx="7514033" cy="66675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1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1400"/>
            <a:ext cx="7514033" cy="762000"/>
          </a:xfrm>
        </p:spPr>
        <p:txBody>
          <a:bodyPr anchor="t">
            <a:norm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92962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4" cy="204549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4" y="2628900"/>
            <a:ext cx="7514035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597589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91905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9492" y="514350"/>
            <a:ext cx="1327777" cy="3829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234" y="514350"/>
            <a:ext cx="6014807" cy="382905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05-Dec-25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80529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7182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13109" y="0"/>
            <a:ext cx="1827610" cy="51435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3" y="2000250"/>
            <a:ext cx="7514035" cy="2343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9492" y="4412457"/>
            <a:ext cx="8572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05-Dec-25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9210" y="4412457"/>
            <a:ext cx="531313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13893" y="4412457"/>
            <a:ext cx="413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4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</p:sldLayoutIdLst>
  <p:hf sldNum="0" hdr="0" ftr="0" dt="0"/>
  <p:txStyles>
    <p:titleStyle>
      <a:lvl1pPr algn="ctr" defTabSz="342900" rtl="0" eaLnBrk="1" latinLnBrk="0" hangingPunct="1">
        <a:spcBef>
          <a:spcPct val="0"/>
        </a:spcBef>
        <a:buNone/>
        <a:defRPr sz="3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8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Final%20Power%20BI%20project.pbix" TargetMode="External"/><Relationship Id="rId1" Type="http://schemas.openxmlformats.org/officeDocument/2006/relationships/slideLayout" Target="../slideLayouts/slideLayout18.xml"/><Relationship Id="rId4" Type="http://schemas.openxmlformats.org/officeDocument/2006/relationships/hyperlink" Target="https://luciamonterorodriguez.com/blog/ofimatica/power-bi/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04D6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28625" y="472297"/>
            <a:ext cx="417195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Pharmaceutical Sales Data Analysis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428625" y="2088180"/>
            <a:ext cx="4171950" cy="59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704" dirty="0">
                <a:solidFill>
                  <a:srgbClr val="4ECDC4"/>
                </a:solidFill>
              </a:rPr>
              <a:t>From Raw Data to Actionable Business Insights</a:t>
            </a:r>
            <a:endParaRPr lang="en-US" sz="1704" dirty="0"/>
          </a:p>
        </p:txBody>
      </p:sp>
      <p:sp>
        <p:nvSpPr>
          <p:cNvPr id="6" name="Text 3"/>
          <p:cNvSpPr/>
          <p:nvPr/>
        </p:nvSpPr>
        <p:spPr>
          <a:xfrm>
            <a:off x="1231210" y="3447904"/>
            <a:ext cx="2177776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Graduation</a:t>
            </a:r>
            <a:r>
              <a:rPr lang="en-US" sz="1200" b="1" dirty="0">
                <a:solidFill>
                  <a:srgbClr val="FFFFFF"/>
                </a:solidFill>
              </a:rPr>
              <a:t> Project Presentation</a:t>
            </a:r>
            <a:endParaRPr lang="en-US" sz="1200" b="1" dirty="0"/>
          </a:p>
        </p:txBody>
      </p:sp>
      <p:sp>
        <p:nvSpPr>
          <p:cNvPr id="7" name="Text 4"/>
          <p:cNvSpPr/>
          <p:nvPr/>
        </p:nvSpPr>
        <p:spPr>
          <a:xfrm>
            <a:off x="5634119" y="1438885"/>
            <a:ext cx="1718740" cy="2215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2000" b="1" u="sng" dirty="0">
                <a:solidFill>
                  <a:schemeClr val="accent1">
                    <a:lumMod val="75000"/>
                  </a:schemeClr>
                </a:solidFill>
              </a:rPr>
              <a:t>Team Members:</a:t>
            </a:r>
          </a:p>
        </p:txBody>
      </p:sp>
      <p:sp>
        <p:nvSpPr>
          <p:cNvPr id="8" name="Text 5"/>
          <p:cNvSpPr/>
          <p:nvPr/>
        </p:nvSpPr>
        <p:spPr>
          <a:xfrm>
            <a:off x="5709268" y="1919626"/>
            <a:ext cx="1322478" cy="185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Joseph Maher</a:t>
            </a:r>
          </a:p>
        </p:txBody>
      </p:sp>
      <p:sp>
        <p:nvSpPr>
          <p:cNvPr id="9" name="Text 6"/>
          <p:cNvSpPr/>
          <p:nvPr/>
        </p:nvSpPr>
        <p:spPr>
          <a:xfrm>
            <a:off x="5690609" y="2341073"/>
            <a:ext cx="1514838" cy="185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Kholoud Rashad</a:t>
            </a:r>
          </a:p>
        </p:txBody>
      </p:sp>
      <p:sp>
        <p:nvSpPr>
          <p:cNvPr id="10" name="Text 7"/>
          <p:cNvSpPr/>
          <p:nvPr/>
        </p:nvSpPr>
        <p:spPr>
          <a:xfrm>
            <a:off x="5727927" y="2744214"/>
            <a:ext cx="1329210" cy="185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Ahmed Ashraf</a:t>
            </a:r>
          </a:p>
        </p:txBody>
      </p:sp>
      <p:sp>
        <p:nvSpPr>
          <p:cNvPr id="11" name="Text 8"/>
          <p:cNvSpPr/>
          <p:nvPr/>
        </p:nvSpPr>
        <p:spPr>
          <a:xfrm>
            <a:off x="5709268" y="3147355"/>
            <a:ext cx="1541640" cy="185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Yehia Elhaytham</a:t>
            </a:r>
          </a:p>
        </p:txBody>
      </p:sp>
      <p:sp>
        <p:nvSpPr>
          <p:cNvPr id="12" name="Text 9"/>
          <p:cNvSpPr/>
          <p:nvPr/>
        </p:nvSpPr>
        <p:spPr>
          <a:xfrm>
            <a:off x="5690609" y="3550496"/>
            <a:ext cx="1578958" cy="1859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Nourhan Hashad</a:t>
            </a:r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611A19A5-25CD-EFD8-553D-6C56FE6E83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489" y="80779"/>
            <a:ext cx="891028" cy="7830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971799" y="514350"/>
            <a:ext cx="5509418" cy="10604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000" b="1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Presentation Outline: </a:t>
            </a:r>
            <a:endParaRPr lang="ar-EG" sz="2000" b="1" dirty="0">
              <a:ln w="3175" cmpd="sng">
                <a:noFill/>
              </a:ln>
              <a:latin typeface="+mj-lt"/>
              <a:ea typeface="+mj-ea"/>
              <a:cs typeface="+mj-cs"/>
            </a:endParaRPr>
          </a:p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600" b="1" dirty="0">
                <a:ln w="3175" cmpd="sng">
                  <a:noFill/>
                </a:ln>
                <a:latin typeface="+mj-lt"/>
                <a:ea typeface="+mj-ea"/>
                <a:cs typeface="+mj-cs"/>
              </a:rPr>
              <a:t>A Structured Approach to Data-Driven Insights</a:t>
            </a:r>
            <a:endParaRPr lang="en-US" sz="1600" dirty="0">
              <a:ln w="3175" cmpd="sng">
                <a:noFill/>
              </a:ln>
              <a:latin typeface="+mj-lt"/>
              <a:ea typeface="+mj-ea"/>
              <a:cs typeface="+mj-cs"/>
            </a:endParaRPr>
          </a:p>
        </p:txBody>
      </p:sp>
      <p:pic>
        <p:nvPicPr>
          <p:cNvPr id="28" name="Picture 27" descr="Financial graphs on a dark display">
            <a:extLst>
              <a:ext uri="{FF2B5EF4-FFF2-40B4-BE49-F238E27FC236}">
                <a16:creationId xmlns:a16="http://schemas.microsoft.com/office/drawing/2014/main" id="{97916D22-BFB4-86B5-52BA-6A44AA6B53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333" r="37142"/>
          <a:stretch>
            <a:fillRect/>
          </a:stretch>
        </p:blipFill>
        <p:spPr>
          <a:xfrm>
            <a:off x="20" y="10"/>
            <a:ext cx="2594352" cy="51434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0D4D052-B4F1-F562-55F1-FB28EACB673C}"/>
              </a:ext>
            </a:extLst>
          </p:cNvPr>
          <p:cNvSpPr txBox="1"/>
          <p:nvPr/>
        </p:nvSpPr>
        <p:spPr>
          <a:xfrm>
            <a:off x="2882900" y="1282263"/>
            <a:ext cx="5744367" cy="3875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600" dirty="0"/>
              <a:t>Stage 1:Project Introduction: Data Source and Data Overview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600" dirty="0"/>
              <a:t>Stage 2: Each Team Member Role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600" dirty="0"/>
              <a:t> Stage 3: Data Cleaning Using Excel and SQL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600" dirty="0"/>
              <a:t>Stage 4: Building Table`s Relations Using Power Pivot 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600" dirty="0"/>
              <a:t>Stage 5: Exploratory Data Analysis and Aggregation in Excel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600" dirty="0"/>
              <a:t>Stage 6: Visualizing Key Trends with Excel Charts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600" dirty="0"/>
              <a:t>Stage 7: Interactive Business Intelligence with Power BI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600" dirty="0"/>
              <a:t>Stage 8: Key Insights &amp; Recommendations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endParaRPr lang="en-US" sz="11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4507" y="0"/>
            <a:ext cx="585647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88146" y="423203"/>
            <a:ext cx="4840363" cy="389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200"/>
              </a:lnSpc>
              <a:buNone/>
            </a:pPr>
            <a:r>
              <a:rPr lang="en-US" sz="2400" b="1" dirty="0">
                <a:solidFill>
                  <a:srgbClr val="004D68"/>
                </a:solidFill>
              </a:rPr>
              <a:t>Acknowledgement and Appreciation</a:t>
            </a:r>
            <a:endParaRPr lang="en-US" sz="2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9959" y="965457"/>
            <a:ext cx="827724" cy="727403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216716" y="2663898"/>
            <a:ext cx="5715000" cy="2227064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2086321" y="2106485"/>
            <a:ext cx="5715000" cy="28575"/>
          </a:xfrm>
          <a:prstGeom prst="rect">
            <a:avLst/>
          </a:prstGeom>
          <a:solidFill>
            <a:srgbClr val="007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3"/>
          <p:cNvSpPr/>
          <p:nvPr/>
        </p:nvSpPr>
        <p:spPr>
          <a:xfrm>
            <a:off x="2128361" y="4654773"/>
            <a:ext cx="5715000" cy="28575"/>
          </a:xfrm>
          <a:prstGeom prst="rect">
            <a:avLst/>
          </a:prstGeom>
          <a:solidFill>
            <a:srgbClr val="007B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2174353" y="2389758"/>
            <a:ext cx="5538935" cy="692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This project was conducted under the guidance and support of the **DEPI Team**. We extend our sincere gratitude for the invaluable resources and framework provided.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856814" y="3277673"/>
            <a:ext cx="6318396" cy="692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A special thank you to our helpful and </a:t>
            </a:r>
          </a:p>
          <a:p>
            <a:pPr marL="0" indent="0" algn="ctr">
              <a:lnSpc>
                <a:spcPts val="1800"/>
              </a:lnSpc>
              <a:buNone/>
            </a:pPr>
            <a:r>
              <a:rPr lang="en-US" sz="1600" dirty="0">
                <a:solidFill>
                  <a:srgbClr val="333333"/>
                </a:solidFill>
              </a:rPr>
              <a:t>excellent instructor</a:t>
            </a:r>
            <a:r>
              <a:rPr lang="en-US" sz="2000" dirty="0">
                <a:solidFill>
                  <a:srgbClr val="333333"/>
                </a:solidFill>
              </a:rPr>
              <a:t>, </a:t>
            </a:r>
            <a:r>
              <a:rPr lang="en-US" sz="1600" b="1" u="sng" dirty="0">
                <a:solidFill>
                  <a:srgbClr val="0070C0"/>
                </a:solidFill>
              </a:rPr>
              <a:t>Menna Selim</a:t>
            </a:r>
            <a:r>
              <a:rPr lang="en-US" sz="1600" b="1" dirty="0">
                <a:solidFill>
                  <a:srgbClr val="0070C0"/>
                </a:solidFill>
              </a:rPr>
              <a:t>  </a:t>
            </a:r>
            <a:r>
              <a:rPr lang="en-US" sz="1600" dirty="0">
                <a:solidFill>
                  <a:srgbClr val="333333"/>
                </a:solidFill>
              </a:rPr>
              <a:t>, for her continuous mentorship and expertise throughout this graduation project.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34541" y="4290719"/>
            <a:ext cx="864019" cy="1362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70C0"/>
                </a:solidFill>
              </a:rPr>
              <a:t>- The </a:t>
            </a:r>
            <a:r>
              <a:rPr lang="en-US" sz="900" b="1" dirty="0">
                <a:solidFill>
                  <a:srgbClr val="0070C0"/>
                </a:solidFill>
              </a:rPr>
              <a:t>Project</a:t>
            </a:r>
            <a:r>
              <a:rPr lang="en-US" sz="784" b="1" dirty="0">
                <a:solidFill>
                  <a:srgbClr val="0070C0"/>
                </a:solidFill>
              </a:rPr>
              <a:t> Team</a:t>
            </a:r>
            <a:endParaRPr lang="en-US" sz="784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408768" y="546263"/>
            <a:ext cx="6823271" cy="1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Stage 1:Project Introduction: Data Source and Data Overview</a:t>
            </a:r>
          </a:p>
        </p:txBody>
      </p:sp>
      <p:sp>
        <p:nvSpPr>
          <p:cNvPr id="4" name="Text 1"/>
          <p:cNvSpPr/>
          <p:nvPr/>
        </p:nvSpPr>
        <p:spPr>
          <a:xfrm>
            <a:off x="1408768" y="1342173"/>
            <a:ext cx="4066003" cy="188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333333"/>
                </a:solidFill>
              </a:rPr>
              <a:t>Data source : Google datasets</a:t>
            </a:r>
            <a:endParaRPr lang="en-US" sz="1600" b="1" dirty="0"/>
          </a:p>
        </p:txBody>
      </p:sp>
      <p:sp>
        <p:nvSpPr>
          <p:cNvPr id="5" name="Text 2"/>
          <p:cNvSpPr/>
          <p:nvPr/>
        </p:nvSpPr>
        <p:spPr>
          <a:xfrm>
            <a:off x="1408768" y="2007420"/>
            <a:ext cx="1725152" cy="1542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2000" b="1" kern="0" spc="1" dirty="0">
                <a:solidFill>
                  <a:srgbClr val="00244C"/>
                </a:solidFill>
              </a:rPr>
              <a:t>Data overview :</a:t>
            </a:r>
          </a:p>
        </p:txBody>
      </p:sp>
      <p:sp>
        <p:nvSpPr>
          <p:cNvPr id="6" name="Text 3"/>
          <p:cNvSpPr/>
          <p:nvPr/>
        </p:nvSpPr>
        <p:spPr>
          <a:xfrm>
            <a:off x="1160364" y="2403308"/>
            <a:ext cx="6823271" cy="2012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285750" indent="-285750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orbel" panose="020B05030202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consists of 11 sheets describing global market sales of 10</a:t>
            </a:r>
            <a:endParaRPr lang="ar-EG" sz="1600" dirty="0">
              <a:latin typeface="Corbel" panose="020B0503020204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ts val="1300"/>
              </a:lnSpc>
            </a:pPr>
            <a:endParaRPr lang="ar-EG" sz="1600" dirty="0">
              <a:latin typeface="Corbel" panose="020B0503020204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ts val="1300"/>
              </a:lnSpc>
            </a:pPr>
            <a:r>
              <a:rPr lang="en-US" sz="1600" dirty="0">
                <a:latin typeface="Corbel" panose="020B05030202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pharmaceutical products over 3 years 2022-2023-2024</a:t>
            </a:r>
          </a:p>
          <a:p>
            <a:pPr marL="285750" indent="-285750" algn="l">
              <a:lnSpc>
                <a:spcPts val="13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Corbel" panose="020B0503020204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1300"/>
              </a:lnSpc>
              <a:buNone/>
            </a:pPr>
            <a:endParaRPr lang="en-US" sz="1600" dirty="0">
              <a:latin typeface="Corbel" panose="020B0503020204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orbel" panose="020B05030202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also show sales in different regions , countries &amp; cities </a:t>
            </a:r>
          </a:p>
          <a:p>
            <a:pPr marL="285750" indent="-285750" algn="l">
              <a:lnSpc>
                <a:spcPts val="13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Corbel" panose="020B0503020204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1300"/>
              </a:lnSpc>
              <a:buNone/>
            </a:pPr>
            <a:endParaRPr lang="en-US" sz="1600" dirty="0">
              <a:latin typeface="Corbel" panose="020B0503020204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orbel" panose="020B05030202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also shows sales of each distributor , channels , sub –channels &amp; customers</a:t>
            </a:r>
          </a:p>
          <a:p>
            <a:pPr marL="285750" indent="-285750" algn="l">
              <a:lnSpc>
                <a:spcPts val="1300"/>
              </a:lnSpc>
              <a:buFont typeface="Arial" panose="020B0604020202020204" pitchFamily="34" charset="0"/>
              <a:buChar char="•"/>
            </a:pPr>
            <a:endParaRPr lang="en-US" sz="1600" dirty="0">
              <a:latin typeface="Corbel" panose="020B0503020204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1300"/>
              </a:lnSpc>
              <a:buNone/>
            </a:pPr>
            <a:r>
              <a:rPr lang="en-US" sz="1600" dirty="0">
                <a:latin typeface="Corbel" panose="020B05030202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 algn="l">
              <a:lnSpc>
                <a:spcPts val="13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Corbel" panose="020B05030202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of Sales reps &amp; managers   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71DA67-DB22-5723-1418-57158A579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6173" y="1044342"/>
            <a:ext cx="1954924" cy="2477776"/>
          </a:xfrm>
          <a:prstGeom prst="rect">
            <a:avLst/>
          </a:prstGeom>
          <a:ln w="28575">
            <a:solidFill>
              <a:srgbClr val="00B0F0"/>
            </a:solidFill>
          </a:ln>
          <a:effectLst>
            <a:glow rad="254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0F7DB-3CF6-4A5B-F036-ADC19439F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DDE7A83-6E81-AC8A-2933-996E59DB61B0}"/>
              </a:ext>
            </a:extLst>
          </p:cNvPr>
          <p:cNvSpPr/>
          <p:nvPr/>
        </p:nvSpPr>
        <p:spPr>
          <a:xfrm>
            <a:off x="1712601" y="476974"/>
            <a:ext cx="6436411" cy="1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Stage 2: Each Team Member Role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E005B65-6A9E-E417-F8BD-2F4AC91742EC}"/>
              </a:ext>
            </a:extLst>
          </p:cNvPr>
          <p:cNvSpPr/>
          <p:nvPr/>
        </p:nvSpPr>
        <p:spPr>
          <a:xfrm>
            <a:off x="1712601" y="1068667"/>
            <a:ext cx="6077604" cy="438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Joseph Maher:</a:t>
            </a:r>
            <a:r>
              <a:rPr lang="en-US" sz="1400" b="1" dirty="0"/>
              <a:t> </a:t>
            </a:r>
          </a:p>
          <a:p>
            <a:pPr>
              <a:lnSpc>
                <a:spcPts val="1400"/>
              </a:lnSpc>
            </a:pPr>
            <a:br>
              <a:rPr lang="en-US" sz="1400" dirty="0"/>
            </a:br>
            <a:r>
              <a:rPr lang="en-US" sz="1400" dirty="0"/>
              <a:t>Data cleaning with Excel ( Power Query , Power Pivot , Pivot tables )</a:t>
            </a:r>
          </a:p>
          <a:p>
            <a:pPr>
              <a:lnSpc>
                <a:spcPts val="1400"/>
              </a:lnSpc>
            </a:pPr>
            <a:br>
              <a:rPr lang="en-US" sz="1400" b="1" dirty="0"/>
            </a:b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Kholoud Rashad :</a:t>
            </a:r>
          </a:p>
          <a:p>
            <a:pPr>
              <a:lnSpc>
                <a:spcPts val="1400"/>
              </a:lnSpc>
            </a:pPr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ts val="1400"/>
              </a:lnSpc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400" dirty="0"/>
              <a:t>Data cleaning with SQL</a:t>
            </a:r>
          </a:p>
          <a:p>
            <a:pPr>
              <a:lnSpc>
                <a:spcPts val="1400"/>
              </a:lnSpc>
            </a:pPr>
            <a:endParaRPr lang="en-US" sz="1400" b="1" dirty="0"/>
          </a:p>
          <a:p>
            <a:pPr>
              <a:lnSpc>
                <a:spcPts val="1400"/>
              </a:lnSpc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Ahmed Ashraf :</a:t>
            </a:r>
            <a:r>
              <a:rPr lang="en-US" sz="1400" b="1" dirty="0"/>
              <a:t> </a:t>
            </a:r>
          </a:p>
          <a:p>
            <a:pPr>
              <a:lnSpc>
                <a:spcPts val="1400"/>
              </a:lnSpc>
            </a:pPr>
            <a:endParaRPr lang="en-US" sz="1400" b="1" dirty="0"/>
          </a:p>
          <a:p>
            <a:pPr>
              <a:lnSpc>
                <a:spcPts val="1400"/>
              </a:lnSpc>
            </a:pPr>
            <a:r>
              <a:rPr lang="en-US" sz="1400" dirty="0"/>
              <a:t>Dashboard design using Power BI</a:t>
            </a:r>
          </a:p>
          <a:p>
            <a:pPr>
              <a:lnSpc>
                <a:spcPts val="1400"/>
              </a:lnSpc>
            </a:pPr>
            <a:endParaRPr lang="en-US" sz="1400" b="1" dirty="0"/>
          </a:p>
          <a:p>
            <a:pPr>
              <a:lnSpc>
                <a:spcPts val="1400"/>
              </a:lnSpc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Yehia </a:t>
            </a:r>
            <a:r>
              <a:rPr lang="en-US" sz="1400" b="1" dirty="0" err="1">
                <a:solidFill>
                  <a:schemeClr val="accent1">
                    <a:lumMod val="75000"/>
                  </a:schemeClr>
                </a:solidFill>
              </a:rPr>
              <a:t>Elhaytham</a:t>
            </a: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 :</a:t>
            </a:r>
          </a:p>
          <a:p>
            <a:pPr>
              <a:lnSpc>
                <a:spcPts val="1400"/>
              </a:lnSpc>
            </a:pPr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ts val="1400"/>
              </a:lnSpc>
            </a:pPr>
            <a:r>
              <a:rPr lang="en-US" sz="1400" dirty="0"/>
              <a:t>Dashboard design using Power BI</a:t>
            </a:r>
          </a:p>
          <a:p>
            <a:pPr>
              <a:lnSpc>
                <a:spcPts val="1400"/>
              </a:lnSpc>
            </a:pPr>
            <a:r>
              <a:rPr lang="en-US" sz="1400" b="1" dirty="0"/>
              <a:t> 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Nourhan </a:t>
            </a:r>
            <a:r>
              <a:rPr lang="en-US" sz="1400" b="1" dirty="0" err="1">
                <a:solidFill>
                  <a:schemeClr val="accent1">
                    <a:lumMod val="75000"/>
                  </a:schemeClr>
                </a:solidFill>
              </a:rPr>
              <a:t>Hashad</a:t>
            </a: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 :</a:t>
            </a:r>
            <a:r>
              <a:rPr lang="en-US" sz="1400" b="1" dirty="0"/>
              <a:t> 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1400" dirty="0"/>
              <a:t>Data Insights &amp; Recommendations + Project presentation</a:t>
            </a:r>
          </a:p>
          <a:p>
            <a:pPr>
              <a:lnSpc>
                <a:spcPts val="1400"/>
              </a:lnSpc>
            </a:pPr>
            <a:endParaRPr lang="en-US" sz="105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ts val="1400"/>
              </a:lnSpc>
            </a:pPr>
            <a:endParaRPr lang="en-US" sz="105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ts val="1400"/>
              </a:lnSpc>
            </a:pPr>
            <a:endParaRPr lang="en-US" sz="105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lnSpc>
                <a:spcPts val="1400"/>
              </a:lnSpc>
            </a:pPr>
            <a:endParaRPr lang="en-US" sz="105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 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100272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647824" y="418667"/>
            <a:ext cx="6816237" cy="1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Stage 3: Data Cleaning Process</a:t>
            </a:r>
          </a:p>
        </p:txBody>
      </p:sp>
      <p:sp>
        <p:nvSpPr>
          <p:cNvPr id="4" name="Text 1"/>
          <p:cNvSpPr/>
          <p:nvPr/>
        </p:nvSpPr>
        <p:spPr>
          <a:xfrm>
            <a:off x="1504013" y="1208340"/>
            <a:ext cx="5416502" cy="2121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We start importing sheets to Power Query to start Data cleaning :</a:t>
            </a:r>
            <a:br>
              <a:rPr lang="en-US" sz="1400" dirty="0">
                <a:solidFill>
                  <a:srgbClr val="333333"/>
                </a:solidFill>
              </a:rPr>
            </a:br>
            <a:endParaRPr lang="en-US" sz="1400" dirty="0">
              <a:solidFill>
                <a:srgbClr val="333333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Check data types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Replace nulls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Capitalize words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Trim spaces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Remove duplicates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333333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333333"/>
              </a:solidFill>
            </a:endParaRPr>
          </a:p>
          <a:p>
            <a:pPr fontAlgn="base">
              <a:lnSpc>
                <a:spcPts val="1400"/>
              </a:lnSpc>
            </a:pPr>
            <a:endParaRPr 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E00C8C-AD45-8E42-7778-0AFC41AFAC7D}"/>
              </a:ext>
            </a:extLst>
          </p:cNvPr>
          <p:cNvSpPr txBox="1"/>
          <p:nvPr/>
        </p:nvSpPr>
        <p:spPr>
          <a:xfrm>
            <a:off x="1647824" y="725210"/>
            <a:ext cx="1330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Using Excel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79E078-FA48-7303-1C65-2BA6FAAA7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2298" y="2231332"/>
            <a:ext cx="5646628" cy="2493501"/>
          </a:xfrm>
          <a:prstGeom prst="rect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  <a:effectLst>
            <a:glow rad="381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4EFC14D-3FB0-5C0C-B3F0-A320A5D8799F}"/>
              </a:ext>
            </a:extLst>
          </p:cNvPr>
          <p:cNvSpPr/>
          <p:nvPr/>
        </p:nvSpPr>
        <p:spPr>
          <a:xfrm>
            <a:off x="1575719" y="391723"/>
            <a:ext cx="6816237" cy="1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Stage 3: Data Cleaning Process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CA2AF2-FB5F-B388-01CA-2310FEDCD482}"/>
              </a:ext>
            </a:extLst>
          </p:cNvPr>
          <p:cNvSpPr txBox="1"/>
          <p:nvPr/>
        </p:nvSpPr>
        <p:spPr>
          <a:xfrm>
            <a:off x="2362529" y="635242"/>
            <a:ext cx="1230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Using SQL</a:t>
            </a:r>
            <a:endParaRPr lang="en-U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8D965E9-45E8-ABA8-BDA1-92817C9DAC4E}"/>
              </a:ext>
            </a:extLst>
          </p:cNvPr>
          <p:cNvSpPr/>
          <p:nvPr/>
        </p:nvSpPr>
        <p:spPr>
          <a:xfrm>
            <a:off x="1575719" y="1039019"/>
            <a:ext cx="5416502" cy="104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Data Upload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 Initial Data Inspection:  identified a total of </a:t>
            </a: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981</a:t>
            </a:r>
            <a:r>
              <a:rPr lang="en-US" sz="1400" dirty="0">
                <a:solidFill>
                  <a:srgbClr val="333333"/>
                </a:solidFill>
              </a:rPr>
              <a:t> rows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333333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333333"/>
              </a:solidFill>
            </a:endParaRPr>
          </a:p>
          <a:p>
            <a:pPr fontAlgn="base">
              <a:lnSpc>
                <a:spcPts val="1400"/>
              </a:lnSpc>
            </a:pPr>
            <a:endParaRPr lang="en-US" sz="1400" dirty="0"/>
          </a:p>
        </p:txBody>
      </p:sp>
      <p:pic>
        <p:nvPicPr>
          <p:cNvPr id="6" name="Google Shape;87;p8">
            <a:extLst>
              <a:ext uri="{FF2B5EF4-FFF2-40B4-BE49-F238E27FC236}">
                <a16:creationId xmlns:a16="http://schemas.microsoft.com/office/drawing/2014/main" id="{F0BFFF9C-363E-22A3-AAB4-8AC0603542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86270" y="1560925"/>
            <a:ext cx="7134446" cy="3468275"/>
          </a:xfrm>
          <a:prstGeom prst="rect">
            <a:avLst/>
          </a:prstGeom>
          <a:noFill/>
          <a:ln>
            <a:solidFill>
              <a:srgbClr val="00B0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3237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CC66-B6DD-76F4-43AF-03BDC5DF5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AC73E98-66D7-E26B-8BB6-A5A5FE3E1E95}"/>
              </a:ext>
            </a:extLst>
          </p:cNvPr>
          <p:cNvSpPr/>
          <p:nvPr/>
        </p:nvSpPr>
        <p:spPr>
          <a:xfrm>
            <a:off x="1575719" y="391723"/>
            <a:ext cx="6816237" cy="1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Stage 3: Data Cleaning Process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2F9399-23C2-E721-9CE6-73153B3F26D1}"/>
              </a:ext>
            </a:extLst>
          </p:cNvPr>
          <p:cNvSpPr txBox="1"/>
          <p:nvPr/>
        </p:nvSpPr>
        <p:spPr>
          <a:xfrm>
            <a:off x="2362529" y="635242"/>
            <a:ext cx="1230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Using SQL</a:t>
            </a:r>
            <a:endParaRPr lang="en-U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0204828-7E6B-70AE-152C-CE4FB633262B}"/>
              </a:ext>
            </a:extLst>
          </p:cNvPr>
          <p:cNvSpPr/>
          <p:nvPr/>
        </p:nvSpPr>
        <p:spPr>
          <a:xfrm>
            <a:off x="1575718" y="1039019"/>
            <a:ext cx="7153611" cy="104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Counting  Nulls in Data ( order priority , Quantity , Unit price, </a:t>
            </a:r>
            <a:r>
              <a:rPr lang="en-US" sz="1400" dirty="0" err="1">
                <a:solidFill>
                  <a:srgbClr val="333333"/>
                </a:solidFill>
              </a:rPr>
              <a:t>CustomerID</a:t>
            </a:r>
            <a:r>
              <a:rPr lang="en-US" sz="1400" dirty="0">
                <a:solidFill>
                  <a:srgbClr val="333333"/>
                </a:solidFill>
              </a:rPr>
              <a:t>) and we found: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773</a:t>
            </a:r>
            <a:r>
              <a:rPr lang="en-US" sz="1400" dirty="0">
                <a:solidFill>
                  <a:srgbClr val="333333"/>
                </a:solidFill>
              </a:rPr>
              <a:t> nulls in order priority, 49 nulls in quantity, </a:t>
            </a: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52</a:t>
            </a:r>
            <a:r>
              <a:rPr lang="en-US" sz="1400" dirty="0">
                <a:solidFill>
                  <a:srgbClr val="333333"/>
                </a:solidFill>
              </a:rPr>
              <a:t> nulls in </a:t>
            </a:r>
            <a:r>
              <a:rPr lang="en-US" sz="1400" dirty="0" err="1">
                <a:solidFill>
                  <a:srgbClr val="333333"/>
                </a:solidFill>
              </a:rPr>
              <a:t>uint</a:t>
            </a:r>
            <a:r>
              <a:rPr lang="en-US" sz="1400" dirty="0">
                <a:solidFill>
                  <a:srgbClr val="333333"/>
                </a:solidFill>
              </a:rPr>
              <a:t> price, </a:t>
            </a:r>
            <a:r>
              <a:rPr lang="en-US" sz="14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50</a:t>
            </a:r>
            <a:r>
              <a:rPr lang="en-US" sz="1400" dirty="0">
                <a:solidFill>
                  <a:srgbClr val="333333"/>
                </a:solidFill>
              </a:rPr>
              <a:t> nulls in </a:t>
            </a:r>
            <a:r>
              <a:rPr lang="en-US" sz="1400" dirty="0" err="1">
                <a:solidFill>
                  <a:srgbClr val="333333"/>
                </a:solidFill>
              </a:rPr>
              <a:t>CustomerID</a:t>
            </a:r>
            <a:r>
              <a:rPr lang="en-US" sz="1400" dirty="0">
                <a:solidFill>
                  <a:srgbClr val="333333"/>
                </a:solidFill>
              </a:rPr>
              <a:t>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333333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333333"/>
              </a:solidFill>
            </a:endParaRPr>
          </a:p>
          <a:p>
            <a:pPr fontAlgn="base">
              <a:lnSpc>
                <a:spcPts val="1400"/>
              </a:lnSpc>
            </a:pPr>
            <a:endParaRPr lang="en-US" sz="1400" dirty="0"/>
          </a:p>
        </p:txBody>
      </p:sp>
      <p:pic>
        <p:nvPicPr>
          <p:cNvPr id="3" name="Google Shape;95;g3adc4a35c15_0_3">
            <a:extLst>
              <a:ext uri="{FF2B5EF4-FFF2-40B4-BE49-F238E27FC236}">
                <a16:creationId xmlns:a16="http://schemas.microsoft.com/office/drawing/2014/main" id="{9F9D4BBB-ED7A-D162-E0D8-97208B9DE78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75718" y="1591922"/>
            <a:ext cx="6816237" cy="3245892"/>
          </a:xfrm>
          <a:prstGeom prst="rect">
            <a:avLst/>
          </a:prstGeom>
          <a:noFill/>
          <a:ln>
            <a:solidFill>
              <a:srgbClr val="00B0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273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EC3C2-AEE4-2E88-4863-A8C6AC098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DA2ED7-C889-8AC1-DAB7-E34F2B35C025}"/>
              </a:ext>
            </a:extLst>
          </p:cNvPr>
          <p:cNvSpPr/>
          <p:nvPr/>
        </p:nvSpPr>
        <p:spPr>
          <a:xfrm>
            <a:off x="1575719" y="391723"/>
            <a:ext cx="6816237" cy="1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Stage 3: Data Cleaning Process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61615E-C893-B7B0-790F-A88A7DD6B139}"/>
              </a:ext>
            </a:extLst>
          </p:cNvPr>
          <p:cNvSpPr txBox="1"/>
          <p:nvPr/>
        </p:nvSpPr>
        <p:spPr>
          <a:xfrm>
            <a:off x="2362529" y="635242"/>
            <a:ext cx="1230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Using SQL</a:t>
            </a:r>
            <a:endParaRPr lang="en-U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D223EA3-53E6-CD87-6B92-B8F9C17C07DE}"/>
              </a:ext>
            </a:extLst>
          </p:cNvPr>
          <p:cNvSpPr/>
          <p:nvPr/>
        </p:nvSpPr>
        <p:spPr>
          <a:xfrm>
            <a:off x="1105786" y="1453689"/>
            <a:ext cx="3466214" cy="1472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Fixing Null Values (Missing Data)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333333"/>
                </a:solidFill>
              </a:rPr>
              <a:t>Order_Priority</a:t>
            </a:r>
            <a:r>
              <a:rPr lang="en-US" sz="1200" dirty="0">
                <a:solidFill>
                  <a:srgbClr val="333333"/>
                </a:solidFill>
              </a:rPr>
              <a:t> (773 rows): Replaced null values with 'Medium' priority.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333333"/>
                </a:solidFill>
              </a:rPr>
              <a:t>UPDATE Fact _Sales SET </a:t>
            </a:r>
            <a:r>
              <a:rPr lang="en-US" sz="1200" b="1" dirty="0" err="1">
                <a:solidFill>
                  <a:srgbClr val="333333"/>
                </a:solidFill>
              </a:rPr>
              <a:t>Order_Priority</a:t>
            </a:r>
            <a:r>
              <a:rPr lang="en-US" sz="1200" b="1" dirty="0">
                <a:solidFill>
                  <a:srgbClr val="333333"/>
                </a:solidFill>
              </a:rPr>
              <a:t> = 'Medium' WHERE </a:t>
            </a:r>
            <a:r>
              <a:rPr lang="en-US" sz="1200" b="1" dirty="0" err="1">
                <a:solidFill>
                  <a:srgbClr val="333333"/>
                </a:solidFill>
              </a:rPr>
              <a:t>Order_Priority</a:t>
            </a:r>
            <a:r>
              <a:rPr lang="en-US" sz="1200" b="1" dirty="0">
                <a:solidFill>
                  <a:srgbClr val="333333"/>
                </a:solidFill>
              </a:rPr>
              <a:t> IS NULL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333333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333333"/>
              </a:solidFill>
            </a:endParaRPr>
          </a:p>
          <a:p>
            <a:pPr fontAlgn="base">
              <a:lnSpc>
                <a:spcPts val="1400"/>
              </a:lnSpc>
            </a:pPr>
            <a:endParaRPr lang="en-US" sz="1200" dirty="0"/>
          </a:p>
        </p:txBody>
      </p:sp>
      <p:pic>
        <p:nvPicPr>
          <p:cNvPr id="3" name="Google Shape;103;p9">
            <a:extLst>
              <a:ext uri="{FF2B5EF4-FFF2-40B4-BE49-F238E27FC236}">
                <a16:creationId xmlns:a16="http://schemas.microsoft.com/office/drawing/2014/main" id="{AD220DBE-04C5-293C-FB9C-A104389CAD3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rcRect l="1855" r="13344" b="6395"/>
          <a:stretch>
            <a:fillRect/>
          </a:stretch>
        </p:blipFill>
        <p:spPr>
          <a:xfrm>
            <a:off x="4668037" y="796383"/>
            <a:ext cx="4392230" cy="2129504"/>
          </a:xfrm>
          <a:prstGeom prst="rect">
            <a:avLst/>
          </a:prstGeom>
          <a:noFill/>
          <a:ln>
            <a:solidFill>
              <a:srgbClr val="00B0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A1C7AB12-98EA-88BC-1A98-2EC362F54E7F}"/>
              </a:ext>
            </a:extLst>
          </p:cNvPr>
          <p:cNvSpPr/>
          <p:nvPr/>
        </p:nvSpPr>
        <p:spPr>
          <a:xfrm>
            <a:off x="1009750" y="3279579"/>
            <a:ext cx="3466214" cy="1102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Validation of Null removal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333333"/>
                </a:solidFill>
              </a:rPr>
              <a:t>Select </a:t>
            </a:r>
            <a:r>
              <a:rPr lang="en-US" sz="1200" b="1" dirty="0" err="1">
                <a:solidFill>
                  <a:srgbClr val="333333"/>
                </a:solidFill>
              </a:rPr>
              <a:t>Order_priority</a:t>
            </a:r>
            <a:r>
              <a:rPr lang="en-US" sz="1200" b="1" dirty="0">
                <a:solidFill>
                  <a:srgbClr val="333333"/>
                </a:solidFill>
              </a:rPr>
              <a:t> , </a:t>
            </a:r>
            <a:r>
              <a:rPr lang="en-US" sz="1200" b="1" dirty="0" err="1">
                <a:solidFill>
                  <a:srgbClr val="333333"/>
                </a:solidFill>
              </a:rPr>
              <a:t>CustomerID</a:t>
            </a:r>
            <a:r>
              <a:rPr lang="en-US" sz="1200" b="1" dirty="0">
                <a:solidFill>
                  <a:srgbClr val="333333"/>
                </a:solidFill>
              </a:rPr>
              <a:t> from Fact Sales where </a:t>
            </a:r>
            <a:r>
              <a:rPr lang="en-US" sz="1200" b="1" dirty="0" err="1">
                <a:solidFill>
                  <a:srgbClr val="333333"/>
                </a:solidFill>
              </a:rPr>
              <a:t>order_Priority</a:t>
            </a:r>
            <a:r>
              <a:rPr lang="en-US" sz="1200" b="1" dirty="0">
                <a:solidFill>
                  <a:srgbClr val="333333"/>
                </a:solidFill>
              </a:rPr>
              <a:t> is NULL  </a:t>
            </a:r>
            <a:r>
              <a:rPr lang="en-US" sz="1200" dirty="0">
                <a:solidFill>
                  <a:srgbClr val="333333"/>
                </a:solidFill>
              </a:rPr>
              <a:t>(EMPTY)</a:t>
            </a:r>
          </a:p>
          <a:p>
            <a:pPr lvl="0"/>
            <a:endParaRPr lang="en-US" sz="1200" dirty="0">
              <a:solidFill>
                <a:srgbClr val="333333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333333"/>
              </a:solidFill>
            </a:endParaRPr>
          </a:p>
          <a:p>
            <a:pPr fontAlgn="base">
              <a:lnSpc>
                <a:spcPts val="1400"/>
              </a:lnSpc>
            </a:pPr>
            <a:endParaRPr lang="en-US" sz="1200" dirty="0"/>
          </a:p>
        </p:txBody>
      </p:sp>
      <p:pic>
        <p:nvPicPr>
          <p:cNvPr id="8" name="Google Shape;105;p9">
            <a:extLst>
              <a:ext uri="{FF2B5EF4-FFF2-40B4-BE49-F238E27FC236}">
                <a16:creationId xmlns:a16="http://schemas.microsoft.com/office/drawing/2014/main" id="{B1A3DA3E-9EC5-AD36-46D8-771380A618D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r="27813" b="23440"/>
          <a:stretch>
            <a:fillRect/>
          </a:stretch>
        </p:blipFill>
        <p:spPr>
          <a:xfrm>
            <a:off x="4668037" y="3075466"/>
            <a:ext cx="4392230" cy="1676311"/>
          </a:xfrm>
          <a:prstGeom prst="rect">
            <a:avLst/>
          </a:prstGeom>
          <a:noFill/>
          <a:ln>
            <a:solidFill>
              <a:srgbClr val="00B0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6730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FEBD5-AF5C-68C9-DA2C-073C71E6A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9FD0E08-84C7-AD71-5BC0-80C6513EFDD5}"/>
              </a:ext>
            </a:extLst>
          </p:cNvPr>
          <p:cNvSpPr/>
          <p:nvPr/>
        </p:nvSpPr>
        <p:spPr>
          <a:xfrm>
            <a:off x="1575719" y="391723"/>
            <a:ext cx="6816237" cy="1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Stage 3: Data Cleaning Process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587BD1-CB12-E9F7-EA3C-662FAE11CEE1}"/>
              </a:ext>
            </a:extLst>
          </p:cNvPr>
          <p:cNvSpPr txBox="1"/>
          <p:nvPr/>
        </p:nvSpPr>
        <p:spPr>
          <a:xfrm>
            <a:off x="2362529" y="635242"/>
            <a:ext cx="1230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Using SQL</a:t>
            </a:r>
            <a:endParaRPr lang="en-U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7F571F4-3087-4D3A-0895-D62C9C5E4CBF}"/>
              </a:ext>
            </a:extLst>
          </p:cNvPr>
          <p:cNvSpPr/>
          <p:nvPr/>
        </p:nvSpPr>
        <p:spPr>
          <a:xfrm>
            <a:off x="1373359" y="1453688"/>
            <a:ext cx="3208932" cy="1287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Fixing null values in </a:t>
            </a:r>
            <a:r>
              <a:rPr lang="en-US" sz="1200" dirty="0" err="1">
                <a:solidFill>
                  <a:srgbClr val="333333"/>
                </a:solidFill>
              </a:rPr>
              <a:t>CustomerID</a:t>
            </a:r>
            <a:endParaRPr lang="en-US" sz="1200" dirty="0">
              <a:solidFill>
                <a:srgbClr val="333333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(50 rows): Replaced null values with (0)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333333"/>
                </a:solidFill>
              </a:rPr>
              <a:t>UPDATE </a:t>
            </a:r>
            <a:r>
              <a:rPr lang="en-US" sz="1200" b="1" dirty="0" err="1">
                <a:solidFill>
                  <a:srgbClr val="333333"/>
                </a:solidFill>
              </a:rPr>
              <a:t>Fact_Sales</a:t>
            </a:r>
            <a:r>
              <a:rPr lang="en-US" sz="1200" b="1" dirty="0">
                <a:solidFill>
                  <a:srgbClr val="333333"/>
                </a:solidFill>
              </a:rPr>
              <a:t> SET Customer_ID = 0 WHERE Customer_ID IS NULL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333333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333333"/>
              </a:solidFill>
            </a:endParaRPr>
          </a:p>
          <a:p>
            <a:pPr fontAlgn="base">
              <a:lnSpc>
                <a:spcPts val="1400"/>
              </a:lnSpc>
            </a:pPr>
            <a:endParaRPr lang="en-US" sz="1200" dirty="0"/>
          </a:p>
        </p:txBody>
      </p:sp>
      <p:pic>
        <p:nvPicPr>
          <p:cNvPr id="3" name="Google Shape;114;g3adc4a35c15_0_21">
            <a:extLst>
              <a:ext uri="{FF2B5EF4-FFF2-40B4-BE49-F238E27FC236}">
                <a16:creationId xmlns:a16="http://schemas.microsoft.com/office/drawing/2014/main" id="{3D45C24D-2CEB-E437-BB55-F8A46E8CBD4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rcRect r="27622" b="14138"/>
          <a:stretch>
            <a:fillRect/>
          </a:stretch>
        </p:blipFill>
        <p:spPr>
          <a:xfrm>
            <a:off x="4731153" y="898244"/>
            <a:ext cx="4024985" cy="2038876"/>
          </a:xfrm>
          <a:prstGeom prst="rect">
            <a:avLst/>
          </a:prstGeom>
          <a:noFill/>
          <a:ln>
            <a:solidFill>
              <a:srgbClr val="00B0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742CE297-C625-7698-1609-5E8F3298DCCD}"/>
              </a:ext>
            </a:extLst>
          </p:cNvPr>
          <p:cNvSpPr/>
          <p:nvPr/>
        </p:nvSpPr>
        <p:spPr>
          <a:xfrm>
            <a:off x="1373359" y="3463556"/>
            <a:ext cx="3039153" cy="1287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Validation of null removal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333333"/>
                </a:solidFill>
              </a:rPr>
              <a:t>Select </a:t>
            </a:r>
            <a:r>
              <a:rPr lang="en-US" sz="1200" b="1" dirty="0" err="1">
                <a:solidFill>
                  <a:srgbClr val="333333"/>
                </a:solidFill>
              </a:rPr>
              <a:t>Order_priority</a:t>
            </a:r>
            <a:r>
              <a:rPr lang="en-US" sz="1200" b="1" dirty="0">
                <a:solidFill>
                  <a:srgbClr val="333333"/>
                </a:solidFill>
              </a:rPr>
              <a:t> , </a:t>
            </a:r>
            <a:r>
              <a:rPr lang="en-US" sz="1200" b="1" dirty="0" err="1">
                <a:solidFill>
                  <a:srgbClr val="333333"/>
                </a:solidFill>
              </a:rPr>
              <a:t>CustomerID</a:t>
            </a:r>
            <a:r>
              <a:rPr lang="en-US" sz="1200" b="1" dirty="0">
                <a:solidFill>
                  <a:srgbClr val="333333"/>
                </a:solidFill>
              </a:rPr>
              <a:t> from </a:t>
            </a:r>
            <a:r>
              <a:rPr lang="en-US" sz="1200" b="1" dirty="0" err="1">
                <a:solidFill>
                  <a:srgbClr val="333333"/>
                </a:solidFill>
              </a:rPr>
              <a:t>Fact_Sales</a:t>
            </a:r>
            <a:r>
              <a:rPr lang="en-US" sz="1200" b="1" dirty="0">
                <a:solidFill>
                  <a:srgbClr val="333333"/>
                </a:solidFill>
              </a:rPr>
              <a:t> where </a:t>
            </a:r>
            <a:r>
              <a:rPr lang="en-US" sz="1200" b="1" dirty="0" err="1">
                <a:solidFill>
                  <a:srgbClr val="333333"/>
                </a:solidFill>
              </a:rPr>
              <a:t>CustomerID</a:t>
            </a:r>
            <a:r>
              <a:rPr lang="en-US" sz="1200" b="1" dirty="0">
                <a:solidFill>
                  <a:srgbClr val="333333"/>
                </a:solidFill>
              </a:rPr>
              <a:t> is NULL  </a:t>
            </a:r>
            <a:r>
              <a:rPr lang="en-US" sz="1200" dirty="0">
                <a:solidFill>
                  <a:srgbClr val="333333"/>
                </a:solidFill>
              </a:rPr>
              <a:t>(EMPTY)</a:t>
            </a:r>
          </a:p>
          <a:p>
            <a:pPr lvl="0"/>
            <a:endParaRPr lang="en-US" sz="1200" dirty="0">
              <a:solidFill>
                <a:srgbClr val="333333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333333"/>
              </a:solidFill>
            </a:endParaRPr>
          </a:p>
          <a:p>
            <a:pPr fontAlgn="base">
              <a:lnSpc>
                <a:spcPts val="1400"/>
              </a:lnSpc>
            </a:pPr>
            <a:endParaRPr lang="en-US" sz="1200" dirty="0"/>
          </a:p>
        </p:txBody>
      </p:sp>
      <p:pic>
        <p:nvPicPr>
          <p:cNvPr id="8" name="Google Shape;115;g3adc4a35c15_0_21">
            <a:extLst>
              <a:ext uri="{FF2B5EF4-FFF2-40B4-BE49-F238E27FC236}">
                <a16:creationId xmlns:a16="http://schemas.microsoft.com/office/drawing/2014/main" id="{D9C53146-F50E-531F-8F6F-E3E005DAD89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1785" y="3052108"/>
            <a:ext cx="4024985" cy="1817601"/>
          </a:xfrm>
          <a:prstGeom prst="rect">
            <a:avLst/>
          </a:prstGeom>
          <a:noFill/>
          <a:ln>
            <a:solidFill>
              <a:srgbClr val="00B0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38175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CB6DB-58DC-2ACD-1558-F88BCD1CE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340AB8A-749C-51ED-AABE-61C8E13FFC70}"/>
              </a:ext>
            </a:extLst>
          </p:cNvPr>
          <p:cNvSpPr/>
          <p:nvPr/>
        </p:nvSpPr>
        <p:spPr>
          <a:xfrm>
            <a:off x="1575719" y="391723"/>
            <a:ext cx="6816237" cy="1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Stage 3: Data Cleaning Process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672B4-F09A-C998-1570-AF10CA732099}"/>
              </a:ext>
            </a:extLst>
          </p:cNvPr>
          <p:cNvSpPr txBox="1"/>
          <p:nvPr/>
        </p:nvSpPr>
        <p:spPr>
          <a:xfrm>
            <a:off x="2362529" y="635242"/>
            <a:ext cx="1230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Using SQL</a:t>
            </a:r>
            <a:endParaRPr lang="en-U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5C44817-DACB-2022-DB7D-DB9799F6ADBE}"/>
              </a:ext>
            </a:extLst>
          </p:cNvPr>
          <p:cNvSpPr/>
          <p:nvPr/>
        </p:nvSpPr>
        <p:spPr>
          <a:xfrm>
            <a:off x="1373359" y="1453688"/>
            <a:ext cx="3208932" cy="1472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Fixing null Values in unit price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(52 rows): Replaced null values with the average Unit Price of the dataset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333333"/>
                </a:solidFill>
              </a:rPr>
              <a:t>UPDATE </a:t>
            </a:r>
            <a:r>
              <a:rPr lang="en-US" sz="1200" b="1" dirty="0" err="1">
                <a:solidFill>
                  <a:srgbClr val="333333"/>
                </a:solidFill>
              </a:rPr>
              <a:t>Fact_Sales</a:t>
            </a:r>
            <a:r>
              <a:rPr lang="en-US" sz="1200" b="1" dirty="0">
                <a:solidFill>
                  <a:srgbClr val="333333"/>
                </a:solidFill>
              </a:rPr>
              <a:t> SET </a:t>
            </a:r>
            <a:r>
              <a:rPr lang="en-US" sz="1200" b="1" dirty="0" err="1">
                <a:solidFill>
                  <a:srgbClr val="333333"/>
                </a:solidFill>
              </a:rPr>
              <a:t>Unit_Price</a:t>
            </a:r>
            <a:r>
              <a:rPr lang="en-US" sz="1200" b="1" dirty="0">
                <a:solidFill>
                  <a:srgbClr val="333333"/>
                </a:solidFill>
              </a:rPr>
              <a:t> = (SELECT AVG (</a:t>
            </a:r>
            <a:r>
              <a:rPr lang="en-US" sz="1200" b="1" dirty="0" err="1">
                <a:solidFill>
                  <a:srgbClr val="333333"/>
                </a:solidFill>
              </a:rPr>
              <a:t>Unit_Price</a:t>
            </a:r>
            <a:r>
              <a:rPr lang="en-US" sz="1200" b="1" dirty="0">
                <a:solidFill>
                  <a:srgbClr val="333333"/>
                </a:solidFill>
              </a:rPr>
              <a:t>) FROM </a:t>
            </a:r>
            <a:r>
              <a:rPr lang="en-US" sz="1200" b="1" dirty="0" err="1">
                <a:solidFill>
                  <a:srgbClr val="333333"/>
                </a:solidFill>
              </a:rPr>
              <a:t>Fact_Sales</a:t>
            </a:r>
            <a:r>
              <a:rPr lang="en-US" sz="1200" b="1" dirty="0">
                <a:solidFill>
                  <a:srgbClr val="333333"/>
                </a:solidFill>
              </a:rPr>
              <a:t>) WHERE </a:t>
            </a:r>
            <a:r>
              <a:rPr lang="en-US" sz="1200" b="1" dirty="0" err="1">
                <a:solidFill>
                  <a:srgbClr val="333333"/>
                </a:solidFill>
              </a:rPr>
              <a:t>Unit_Price</a:t>
            </a:r>
            <a:r>
              <a:rPr lang="en-US" sz="1200" b="1" dirty="0">
                <a:solidFill>
                  <a:srgbClr val="333333"/>
                </a:solidFill>
              </a:rPr>
              <a:t> IS NULL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333333"/>
              </a:solidFill>
            </a:endParaRPr>
          </a:p>
          <a:p>
            <a:pPr fontAlgn="base">
              <a:lnSpc>
                <a:spcPts val="1400"/>
              </a:lnSpc>
            </a:pPr>
            <a:endParaRPr lang="en-US" sz="12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D973F8A3-378E-B2D7-C596-BDFBE5ED4D0C}"/>
              </a:ext>
            </a:extLst>
          </p:cNvPr>
          <p:cNvSpPr/>
          <p:nvPr/>
        </p:nvSpPr>
        <p:spPr>
          <a:xfrm>
            <a:off x="1373359" y="3165846"/>
            <a:ext cx="3039153" cy="1287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Validation of null removal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333333"/>
                </a:solidFill>
              </a:rPr>
              <a:t>Select </a:t>
            </a:r>
            <a:r>
              <a:rPr lang="en-US" sz="1200" b="1" dirty="0" err="1">
                <a:solidFill>
                  <a:srgbClr val="333333"/>
                </a:solidFill>
              </a:rPr>
              <a:t>Order_priority</a:t>
            </a:r>
            <a:r>
              <a:rPr lang="en-US" sz="1200" b="1" dirty="0">
                <a:solidFill>
                  <a:srgbClr val="333333"/>
                </a:solidFill>
              </a:rPr>
              <a:t> , unit price from </a:t>
            </a:r>
            <a:r>
              <a:rPr lang="en-US" sz="1200" b="1" dirty="0" err="1">
                <a:solidFill>
                  <a:srgbClr val="333333"/>
                </a:solidFill>
              </a:rPr>
              <a:t>Fact_Sales</a:t>
            </a:r>
            <a:r>
              <a:rPr lang="en-US" sz="1200" b="1" dirty="0">
                <a:solidFill>
                  <a:srgbClr val="333333"/>
                </a:solidFill>
              </a:rPr>
              <a:t> where </a:t>
            </a:r>
            <a:r>
              <a:rPr lang="en-US" sz="1200" b="1" dirty="0" err="1">
                <a:solidFill>
                  <a:srgbClr val="333333"/>
                </a:solidFill>
              </a:rPr>
              <a:t>uint</a:t>
            </a:r>
            <a:r>
              <a:rPr lang="en-US" sz="1200" b="1" dirty="0">
                <a:solidFill>
                  <a:srgbClr val="333333"/>
                </a:solidFill>
              </a:rPr>
              <a:t> price is NULL  </a:t>
            </a:r>
            <a:r>
              <a:rPr lang="en-US" sz="1200" dirty="0">
                <a:solidFill>
                  <a:srgbClr val="333333"/>
                </a:solidFill>
              </a:rPr>
              <a:t>(EMPTY)</a:t>
            </a:r>
          </a:p>
          <a:p>
            <a:pPr lvl="0"/>
            <a:endParaRPr lang="en-US" sz="1200" dirty="0">
              <a:solidFill>
                <a:srgbClr val="333333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333333"/>
              </a:solidFill>
            </a:endParaRPr>
          </a:p>
          <a:p>
            <a:pPr fontAlgn="base">
              <a:lnSpc>
                <a:spcPts val="1400"/>
              </a:lnSpc>
            </a:pPr>
            <a:endParaRPr lang="en-US" sz="1200" dirty="0"/>
          </a:p>
        </p:txBody>
      </p:sp>
      <p:pic>
        <p:nvPicPr>
          <p:cNvPr id="6" name="Google Shape;124;g3adc4a35c15_0_32">
            <a:extLst>
              <a:ext uri="{FF2B5EF4-FFF2-40B4-BE49-F238E27FC236}">
                <a16:creationId xmlns:a16="http://schemas.microsoft.com/office/drawing/2014/main" id="{FE16B933-2993-2B65-8976-341A51AFFBE5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rcRect r="28406" b="5999"/>
          <a:stretch>
            <a:fillRect/>
          </a:stretch>
        </p:blipFill>
        <p:spPr>
          <a:xfrm>
            <a:off x="4943700" y="635242"/>
            <a:ext cx="3959041" cy="2240626"/>
          </a:xfrm>
          <a:prstGeom prst="rect">
            <a:avLst/>
          </a:prstGeom>
          <a:noFill/>
          <a:ln>
            <a:solidFill>
              <a:srgbClr val="00B0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oogle Shape;125;g3adc4a35c15_0_32">
            <a:extLst>
              <a:ext uri="{FF2B5EF4-FFF2-40B4-BE49-F238E27FC236}">
                <a16:creationId xmlns:a16="http://schemas.microsoft.com/office/drawing/2014/main" id="{3B75D2F6-DD11-6084-6954-73DEE2CC46A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3700" y="2943572"/>
            <a:ext cx="3959041" cy="2082966"/>
          </a:xfrm>
          <a:prstGeom prst="rect">
            <a:avLst/>
          </a:prstGeom>
          <a:noFill/>
          <a:ln>
            <a:solidFill>
              <a:srgbClr val="00B0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2109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ED037-42B4-2CE3-69D2-A9B48868D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EEE3E1A-7E0C-37DE-73EE-054E74CFFCC4}"/>
              </a:ext>
            </a:extLst>
          </p:cNvPr>
          <p:cNvSpPr/>
          <p:nvPr/>
        </p:nvSpPr>
        <p:spPr>
          <a:xfrm>
            <a:off x="1575719" y="391723"/>
            <a:ext cx="6816237" cy="1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Stage 3: Data Cleaning Process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BE8E33-7FB6-1076-137B-8710F29630A8}"/>
              </a:ext>
            </a:extLst>
          </p:cNvPr>
          <p:cNvSpPr txBox="1"/>
          <p:nvPr/>
        </p:nvSpPr>
        <p:spPr>
          <a:xfrm>
            <a:off x="2362529" y="635242"/>
            <a:ext cx="1230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Using SQL</a:t>
            </a:r>
            <a:endParaRPr lang="en-U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6091AF15-C753-E166-3F3A-0B5F14DA2908}"/>
              </a:ext>
            </a:extLst>
          </p:cNvPr>
          <p:cNvSpPr/>
          <p:nvPr/>
        </p:nvSpPr>
        <p:spPr>
          <a:xfrm>
            <a:off x="1373359" y="1453688"/>
            <a:ext cx="3208932" cy="1656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Fixing Null Values in unit Quantity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(49 rows): Replaced null values using formula  Total Sales / Unit Price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333333"/>
                </a:solidFill>
              </a:rPr>
              <a:t>UPDATE </a:t>
            </a:r>
            <a:r>
              <a:rPr lang="en-US" sz="1200" b="1" dirty="0" err="1">
                <a:solidFill>
                  <a:srgbClr val="333333"/>
                </a:solidFill>
              </a:rPr>
              <a:t>Fact_Sales</a:t>
            </a:r>
            <a:r>
              <a:rPr lang="en-US" sz="1200" b="1" dirty="0">
                <a:solidFill>
                  <a:srgbClr val="333333"/>
                </a:solidFill>
              </a:rPr>
              <a:t> SET Quantity = </a:t>
            </a:r>
            <a:r>
              <a:rPr lang="en-US" sz="1200" b="1" dirty="0" err="1">
                <a:solidFill>
                  <a:srgbClr val="333333"/>
                </a:solidFill>
              </a:rPr>
              <a:t>Total_Sales</a:t>
            </a:r>
            <a:r>
              <a:rPr lang="en-US" sz="1200" b="1" dirty="0">
                <a:solidFill>
                  <a:srgbClr val="333333"/>
                </a:solidFill>
              </a:rPr>
              <a:t> / </a:t>
            </a:r>
            <a:r>
              <a:rPr lang="en-US" sz="1200" b="1" dirty="0" err="1">
                <a:solidFill>
                  <a:srgbClr val="333333"/>
                </a:solidFill>
              </a:rPr>
              <a:t>Unit_Price</a:t>
            </a:r>
            <a:r>
              <a:rPr lang="en-US" sz="1200" b="1" dirty="0">
                <a:solidFill>
                  <a:srgbClr val="333333"/>
                </a:solidFill>
              </a:rPr>
              <a:t> WHERE Quantity IS NULL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333333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333333"/>
              </a:solidFill>
            </a:endParaRPr>
          </a:p>
          <a:p>
            <a:pPr fontAlgn="base">
              <a:lnSpc>
                <a:spcPts val="1400"/>
              </a:lnSpc>
            </a:pPr>
            <a:endParaRPr lang="en-US" sz="12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98F5627D-75D8-C554-2A33-9DED343BF954}"/>
              </a:ext>
            </a:extLst>
          </p:cNvPr>
          <p:cNvSpPr/>
          <p:nvPr/>
        </p:nvSpPr>
        <p:spPr>
          <a:xfrm>
            <a:off x="1373359" y="3463556"/>
            <a:ext cx="3039153" cy="1287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Validation of Null removal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333333"/>
                </a:solidFill>
              </a:rPr>
              <a:t>Select </a:t>
            </a:r>
            <a:r>
              <a:rPr lang="en-US" sz="1200" b="1" dirty="0" err="1">
                <a:solidFill>
                  <a:srgbClr val="333333"/>
                </a:solidFill>
              </a:rPr>
              <a:t>Order_priority</a:t>
            </a:r>
            <a:r>
              <a:rPr lang="en-US" sz="1200" b="1" dirty="0">
                <a:solidFill>
                  <a:srgbClr val="333333"/>
                </a:solidFill>
              </a:rPr>
              <a:t> , unit quantity from </a:t>
            </a:r>
            <a:r>
              <a:rPr lang="en-US" sz="1200" b="1" dirty="0" err="1">
                <a:solidFill>
                  <a:srgbClr val="333333"/>
                </a:solidFill>
              </a:rPr>
              <a:t>Fact_Sales</a:t>
            </a:r>
            <a:r>
              <a:rPr lang="en-US" sz="1200" b="1" dirty="0">
                <a:solidFill>
                  <a:srgbClr val="333333"/>
                </a:solidFill>
              </a:rPr>
              <a:t> where </a:t>
            </a:r>
            <a:r>
              <a:rPr lang="en-US" sz="1200" b="1" dirty="0" err="1">
                <a:solidFill>
                  <a:srgbClr val="333333"/>
                </a:solidFill>
              </a:rPr>
              <a:t>uint</a:t>
            </a:r>
            <a:r>
              <a:rPr lang="en-US" sz="1200" b="1" dirty="0">
                <a:solidFill>
                  <a:srgbClr val="333333"/>
                </a:solidFill>
              </a:rPr>
              <a:t> quantity is NULL  </a:t>
            </a:r>
            <a:r>
              <a:rPr lang="en-US" sz="1200" dirty="0">
                <a:solidFill>
                  <a:srgbClr val="333333"/>
                </a:solidFill>
              </a:rPr>
              <a:t>(EMPTY)</a:t>
            </a:r>
          </a:p>
          <a:p>
            <a:pPr lvl="0"/>
            <a:endParaRPr lang="en-US" sz="1200" dirty="0">
              <a:solidFill>
                <a:srgbClr val="333333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333333"/>
              </a:solidFill>
            </a:endParaRPr>
          </a:p>
          <a:p>
            <a:pPr fontAlgn="base">
              <a:lnSpc>
                <a:spcPts val="1400"/>
              </a:lnSpc>
            </a:pPr>
            <a:endParaRPr lang="en-US" sz="1200" dirty="0"/>
          </a:p>
        </p:txBody>
      </p:sp>
      <p:pic>
        <p:nvPicPr>
          <p:cNvPr id="6" name="Google Shape;134;g3adc4a35c15_0_43">
            <a:extLst>
              <a:ext uri="{FF2B5EF4-FFF2-40B4-BE49-F238E27FC236}">
                <a16:creationId xmlns:a16="http://schemas.microsoft.com/office/drawing/2014/main" id="{9E682904-4972-404B-BAF6-246D36FF3BD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rcRect r="37886" b="15006"/>
          <a:stretch>
            <a:fillRect/>
          </a:stretch>
        </p:blipFill>
        <p:spPr>
          <a:xfrm>
            <a:off x="4731490" y="904396"/>
            <a:ext cx="4157825" cy="1760901"/>
          </a:xfrm>
          <a:prstGeom prst="rect">
            <a:avLst/>
          </a:prstGeom>
          <a:noFill/>
          <a:ln>
            <a:solidFill>
              <a:srgbClr val="00B0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oogle Shape;135;g3adc4a35c15_0_43">
            <a:extLst>
              <a:ext uri="{FF2B5EF4-FFF2-40B4-BE49-F238E27FC236}">
                <a16:creationId xmlns:a16="http://schemas.microsoft.com/office/drawing/2014/main" id="{F8D2241B-EBF5-B6C6-26A9-9B649BB9C98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r="4429" b="12391"/>
          <a:stretch>
            <a:fillRect/>
          </a:stretch>
        </p:blipFill>
        <p:spPr>
          <a:xfrm>
            <a:off x="4731490" y="2793831"/>
            <a:ext cx="4157825" cy="1954639"/>
          </a:xfrm>
          <a:prstGeom prst="rect">
            <a:avLst/>
          </a:prstGeom>
          <a:noFill/>
          <a:ln>
            <a:solidFill>
              <a:srgbClr val="00B0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8547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4984B-B9F6-9312-E8D9-25498BFCF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ED62EC-DFC5-0602-E2CE-84D5E72EBE3A}"/>
              </a:ext>
            </a:extLst>
          </p:cNvPr>
          <p:cNvSpPr/>
          <p:nvPr/>
        </p:nvSpPr>
        <p:spPr>
          <a:xfrm>
            <a:off x="1575719" y="391723"/>
            <a:ext cx="6816237" cy="1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Stage 3: Data Cleaning Process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BCCDE9-FF2B-C1B4-D79C-AFCAA8ECA75B}"/>
              </a:ext>
            </a:extLst>
          </p:cNvPr>
          <p:cNvSpPr txBox="1"/>
          <p:nvPr/>
        </p:nvSpPr>
        <p:spPr>
          <a:xfrm>
            <a:off x="2362529" y="635242"/>
            <a:ext cx="1230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Using SQL</a:t>
            </a:r>
            <a:endParaRPr lang="en-U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48896DE-CBAB-6F0E-E3A0-45B8696273CD}"/>
              </a:ext>
            </a:extLst>
          </p:cNvPr>
          <p:cNvSpPr/>
          <p:nvPr/>
        </p:nvSpPr>
        <p:spPr>
          <a:xfrm>
            <a:off x="1479685" y="2240472"/>
            <a:ext cx="3208932" cy="1472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Data Standardization (Text Formatting)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Trimming and Lowercasing:</a:t>
            </a:r>
            <a:br>
              <a:rPr lang="en-US" sz="1200" dirty="0">
                <a:solidFill>
                  <a:srgbClr val="333333"/>
                </a:solidFill>
              </a:rPr>
            </a:br>
            <a:r>
              <a:rPr lang="en-US" sz="1200" dirty="0">
                <a:solidFill>
                  <a:srgbClr val="333333"/>
                </a:solidFill>
              </a:rPr>
              <a:t>UPDATE </a:t>
            </a:r>
            <a:r>
              <a:rPr lang="en-US" sz="1200" dirty="0" err="1">
                <a:solidFill>
                  <a:srgbClr val="333333"/>
                </a:solidFill>
              </a:rPr>
              <a:t>Fact_Sales</a:t>
            </a:r>
            <a:endParaRPr lang="en-US" sz="1200" dirty="0">
              <a:solidFill>
                <a:srgbClr val="333333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SET </a:t>
            </a:r>
            <a:r>
              <a:rPr lang="en-US" sz="1200" dirty="0" err="1">
                <a:solidFill>
                  <a:srgbClr val="333333"/>
                </a:solidFill>
              </a:rPr>
              <a:t>Order_Priority</a:t>
            </a:r>
            <a:r>
              <a:rPr lang="en-US" sz="1200" dirty="0">
                <a:solidFill>
                  <a:srgbClr val="333333"/>
                </a:solidFill>
              </a:rPr>
              <a:t> = LOWER(LTRIM(RTRIM(</a:t>
            </a:r>
            <a:r>
              <a:rPr lang="en-US" sz="1200" dirty="0" err="1">
                <a:solidFill>
                  <a:srgbClr val="333333"/>
                </a:solidFill>
              </a:rPr>
              <a:t>Order_Priority</a:t>
            </a:r>
            <a:r>
              <a:rPr lang="en-US" sz="1200" dirty="0">
                <a:solidFill>
                  <a:srgbClr val="333333"/>
                </a:solidFill>
              </a:rPr>
              <a:t>)))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333333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333333"/>
              </a:solidFill>
            </a:endParaRPr>
          </a:p>
          <a:p>
            <a:pPr fontAlgn="base">
              <a:lnSpc>
                <a:spcPts val="1400"/>
              </a:lnSpc>
            </a:pPr>
            <a:endParaRPr lang="en-US" sz="1200" dirty="0"/>
          </a:p>
        </p:txBody>
      </p:sp>
      <p:pic>
        <p:nvPicPr>
          <p:cNvPr id="6" name="Google Shape;143;g3adc4a35c15_0_55">
            <a:extLst>
              <a:ext uri="{FF2B5EF4-FFF2-40B4-BE49-F238E27FC236}">
                <a16:creationId xmlns:a16="http://schemas.microsoft.com/office/drawing/2014/main" id="{1B61B272-894B-56D3-FEDD-E97227C2000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rcRect r="31675" b="19413"/>
          <a:stretch>
            <a:fillRect/>
          </a:stretch>
        </p:blipFill>
        <p:spPr>
          <a:xfrm>
            <a:off x="5005466" y="819908"/>
            <a:ext cx="3533839" cy="1472198"/>
          </a:xfrm>
          <a:prstGeom prst="rect">
            <a:avLst/>
          </a:prstGeom>
          <a:noFill/>
          <a:ln>
            <a:solidFill>
              <a:srgbClr val="00B0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Google Shape;145;g3adc4a35c15_0_55">
            <a:extLst>
              <a:ext uri="{FF2B5EF4-FFF2-40B4-BE49-F238E27FC236}">
                <a16:creationId xmlns:a16="http://schemas.microsoft.com/office/drawing/2014/main" id="{4A52C2A0-4C38-D6D2-B82E-929F7EFAEB3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5465" y="2383481"/>
            <a:ext cx="3533839" cy="2666983"/>
          </a:xfrm>
          <a:prstGeom prst="rect">
            <a:avLst/>
          </a:prstGeom>
          <a:noFill/>
          <a:ln>
            <a:solidFill>
              <a:srgbClr val="00B0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8986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0F8D4-B7F0-B25A-C03A-B29B6D445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997C7D0-69AC-6774-EC80-A90BDBECFE82}"/>
              </a:ext>
            </a:extLst>
          </p:cNvPr>
          <p:cNvSpPr/>
          <p:nvPr/>
        </p:nvSpPr>
        <p:spPr>
          <a:xfrm>
            <a:off x="1575719" y="391723"/>
            <a:ext cx="6816237" cy="1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Stage 3: Data Cleaning Process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6F4131-377D-ECB3-9343-46A656F741F0}"/>
              </a:ext>
            </a:extLst>
          </p:cNvPr>
          <p:cNvSpPr txBox="1"/>
          <p:nvPr/>
        </p:nvSpPr>
        <p:spPr>
          <a:xfrm>
            <a:off x="2362529" y="613976"/>
            <a:ext cx="1230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Using SQL</a:t>
            </a: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2403C6-A55D-C7C5-1C55-F2956D6C988E}"/>
              </a:ext>
            </a:extLst>
          </p:cNvPr>
          <p:cNvSpPr/>
          <p:nvPr/>
        </p:nvSpPr>
        <p:spPr>
          <a:xfrm>
            <a:off x="1458248" y="1013318"/>
            <a:ext cx="3039153" cy="1102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Capitalization:</a:t>
            </a:r>
            <a:br>
              <a:rPr lang="en-US" sz="1200" dirty="0">
                <a:solidFill>
                  <a:srgbClr val="333333"/>
                </a:solidFill>
              </a:rPr>
            </a:br>
            <a:r>
              <a:rPr lang="en-US" sz="1200" dirty="0">
                <a:solidFill>
                  <a:srgbClr val="333333"/>
                </a:solidFill>
              </a:rPr>
              <a:t>capitalize the first letter of each Order Priority value (e.g., 'high' → 'High’).</a:t>
            </a:r>
          </a:p>
          <a:p>
            <a:pPr lvl="0"/>
            <a:endParaRPr lang="en-US" sz="1200" dirty="0">
              <a:solidFill>
                <a:srgbClr val="333333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333333"/>
              </a:solidFill>
            </a:endParaRPr>
          </a:p>
          <a:p>
            <a:pPr fontAlgn="base">
              <a:lnSpc>
                <a:spcPts val="1400"/>
              </a:lnSpc>
            </a:pPr>
            <a:endParaRPr lang="en-US" sz="1200" dirty="0"/>
          </a:p>
        </p:txBody>
      </p:sp>
      <p:pic>
        <p:nvPicPr>
          <p:cNvPr id="6" name="Google Shape;144;g3adc4a35c15_0_55">
            <a:extLst>
              <a:ext uri="{FF2B5EF4-FFF2-40B4-BE49-F238E27FC236}">
                <a16:creationId xmlns:a16="http://schemas.microsoft.com/office/drawing/2014/main" id="{CDFA0712-1A8A-03E4-29D2-67CCBC04910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rcRect l="1" r="36095" b="8243"/>
          <a:stretch>
            <a:fillRect/>
          </a:stretch>
        </p:blipFill>
        <p:spPr>
          <a:xfrm>
            <a:off x="5110431" y="591216"/>
            <a:ext cx="3576368" cy="1798231"/>
          </a:xfrm>
          <a:prstGeom prst="rect">
            <a:avLst/>
          </a:prstGeom>
          <a:noFill/>
          <a:ln>
            <a:solidFill>
              <a:srgbClr val="00B0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Google Shape;156;g3adc4a35c15_0_68">
            <a:extLst>
              <a:ext uri="{FF2B5EF4-FFF2-40B4-BE49-F238E27FC236}">
                <a16:creationId xmlns:a16="http://schemas.microsoft.com/office/drawing/2014/main" id="{62F53A11-522B-B5D4-0394-3880A854DED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l="1887" t="156" r="45759" b="13995"/>
          <a:stretch>
            <a:fillRect/>
          </a:stretch>
        </p:blipFill>
        <p:spPr>
          <a:xfrm>
            <a:off x="5110430" y="2754054"/>
            <a:ext cx="3576369" cy="2294458"/>
          </a:xfrm>
          <a:prstGeom prst="rect">
            <a:avLst/>
          </a:prstGeom>
          <a:noFill/>
          <a:ln>
            <a:solidFill>
              <a:srgbClr val="00B0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34999B4D-4782-0F4C-54D1-2A0074D58A3C}"/>
              </a:ext>
            </a:extLst>
          </p:cNvPr>
          <p:cNvSpPr/>
          <p:nvPr/>
        </p:nvSpPr>
        <p:spPr>
          <a:xfrm>
            <a:off x="1463443" y="1828028"/>
            <a:ext cx="3208932" cy="733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Removing Duplicates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333333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333333"/>
              </a:solidFill>
            </a:endParaRPr>
          </a:p>
          <a:p>
            <a:pPr fontAlgn="base">
              <a:lnSpc>
                <a:spcPts val="1400"/>
              </a:lnSpc>
            </a:pPr>
            <a:endParaRPr lang="en-US" sz="1200" dirty="0"/>
          </a:p>
        </p:txBody>
      </p:sp>
      <p:pic>
        <p:nvPicPr>
          <p:cNvPr id="12" name="Google Shape;154;g3adc4a35c15_0_68">
            <a:extLst>
              <a:ext uri="{FF2B5EF4-FFF2-40B4-BE49-F238E27FC236}">
                <a16:creationId xmlns:a16="http://schemas.microsoft.com/office/drawing/2014/main" id="{5D4034A5-2AD3-44DE-8B33-070588D84E1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r="49397" b="494"/>
          <a:stretch>
            <a:fillRect/>
          </a:stretch>
        </p:blipFill>
        <p:spPr>
          <a:xfrm>
            <a:off x="1288470" y="2099099"/>
            <a:ext cx="3208932" cy="2083760"/>
          </a:xfrm>
          <a:prstGeom prst="rect">
            <a:avLst/>
          </a:prstGeom>
          <a:noFill/>
          <a:ln>
            <a:solidFill>
              <a:srgbClr val="00B0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7CFBC836-AF98-1BAE-181A-63B78848F0B5}"/>
              </a:ext>
            </a:extLst>
          </p:cNvPr>
          <p:cNvSpPr/>
          <p:nvPr/>
        </p:nvSpPr>
        <p:spPr>
          <a:xfrm>
            <a:off x="1463443" y="4461819"/>
            <a:ext cx="3403431" cy="733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Validation there is no Duplicates in </a:t>
            </a:r>
            <a:r>
              <a:rPr lang="en-US" sz="1200" dirty="0" err="1">
                <a:solidFill>
                  <a:srgbClr val="333333"/>
                </a:solidFill>
              </a:rPr>
              <a:t>TransactionID</a:t>
            </a:r>
            <a:endParaRPr lang="en-US" sz="1200" dirty="0">
              <a:solidFill>
                <a:srgbClr val="333333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333333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333333"/>
              </a:solidFill>
            </a:endParaRPr>
          </a:p>
          <a:p>
            <a:pPr fontAlgn="base">
              <a:lnSpc>
                <a:spcPts val="1400"/>
              </a:lnSpc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20725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717EF-E269-6AF1-1054-231564876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D5055B5-6F4B-E5A3-4E03-7F17A3FFD59F}"/>
              </a:ext>
            </a:extLst>
          </p:cNvPr>
          <p:cNvSpPr/>
          <p:nvPr/>
        </p:nvSpPr>
        <p:spPr>
          <a:xfrm>
            <a:off x="1575719" y="391723"/>
            <a:ext cx="6816237" cy="1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Stage 3: Data Cleaning Process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7094D6-B542-BCB1-AA47-5445ADEE7185}"/>
              </a:ext>
            </a:extLst>
          </p:cNvPr>
          <p:cNvSpPr txBox="1"/>
          <p:nvPr/>
        </p:nvSpPr>
        <p:spPr>
          <a:xfrm>
            <a:off x="2362529" y="635242"/>
            <a:ext cx="1230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Using SQL</a:t>
            </a:r>
            <a:endParaRPr lang="en-U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C3E0FDA-FF3C-D2F3-28B8-A9989900749D}"/>
              </a:ext>
            </a:extLst>
          </p:cNvPr>
          <p:cNvSpPr/>
          <p:nvPr/>
        </p:nvSpPr>
        <p:spPr>
          <a:xfrm>
            <a:off x="1373359" y="1175510"/>
            <a:ext cx="3208932" cy="1472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Managing Outliers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capping values that were more than 3 standard deviations above the mean.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Outliers were reset to the value of Average Quantity + 3 times Standard Deviation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333333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333333"/>
              </a:solidFill>
            </a:endParaRPr>
          </a:p>
          <a:p>
            <a:pPr fontAlgn="base">
              <a:lnSpc>
                <a:spcPts val="1400"/>
              </a:lnSpc>
            </a:pPr>
            <a:endParaRPr lang="en-US" sz="1200" dirty="0"/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4697C3CE-8C26-0CB6-C7C1-D3FA90F34078}"/>
              </a:ext>
            </a:extLst>
          </p:cNvPr>
          <p:cNvSpPr/>
          <p:nvPr/>
        </p:nvSpPr>
        <p:spPr>
          <a:xfrm>
            <a:off x="1601625" y="2446107"/>
            <a:ext cx="3039153" cy="548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Validation of no error Rows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333333"/>
              </a:solidFill>
            </a:endParaRPr>
          </a:p>
          <a:p>
            <a:pPr fontAlgn="base">
              <a:lnSpc>
                <a:spcPts val="1400"/>
              </a:lnSpc>
            </a:pPr>
            <a:endParaRPr lang="en-US" sz="1200" dirty="0"/>
          </a:p>
        </p:txBody>
      </p:sp>
      <p:pic>
        <p:nvPicPr>
          <p:cNvPr id="3" name="Google Shape;164;p10">
            <a:extLst>
              <a:ext uri="{FF2B5EF4-FFF2-40B4-BE49-F238E27FC236}">
                <a16:creationId xmlns:a16="http://schemas.microsoft.com/office/drawing/2014/main" id="{D03AD4A2-606B-2CB2-0DB3-47A7137C24E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rcRect r="68865"/>
          <a:stretch>
            <a:fillRect/>
          </a:stretch>
        </p:blipFill>
        <p:spPr>
          <a:xfrm>
            <a:off x="5253901" y="777376"/>
            <a:ext cx="3549857" cy="1584025"/>
          </a:xfrm>
          <a:prstGeom prst="rect">
            <a:avLst/>
          </a:prstGeom>
          <a:noFill/>
          <a:ln>
            <a:solidFill>
              <a:srgbClr val="00B0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Google Shape;166;p10">
            <a:extLst>
              <a:ext uri="{FF2B5EF4-FFF2-40B4-BE49-F238E27FC236}">
                <a16:creationId xmlns:a16="http://schemas.microsoft.com/office/drawing/2014/main" id="{696186C5-D56C-9B65-36E1-833A16FEF65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18246" b="14214"/>
          <a:stretch>
            <a:fillRect/>
          </a:stretch>
        </p:blipFill>
        <p:spPr>
          <a:xfrm>
            <a:off x="1575720" y="2824847"/>
            <a:ext cx="3549858" cy="2031767"/>
          </a:xfrm>
          <a:prstGeom prst="rect">
            <a:avLst/>
          </a:prstGeom>
          <a:noFill/>
          <a:ln>
            <a:solidFill>
              <a:srgbClr val="00B0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Google Shape;167;p10">
            <a:extLst>
              <a:ext uri="{FF2B5EF4-FFF2-40B4-BE49-F238E27FC236}">
                <a16:creationId xmlns:a16="http://schemas.microsoft.com/office/drawing/2014/main" id="{D09CCC53-4A62-3C44-6BAA-14A8337B28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-1480" t="11169" r="25321" b="7416"/>
          <a:stretch>
            <a:fillRect/>
          </a:stretch>
        </p:blipFill>
        <p:spPr>
          <a:xfrm>
            <a:off x="5253901" y="2815512"/>
            <a:ext cx="3700163" cy="2041101"/>
          </a:xfrm>
          <a:prstGeom prst="rect">
            <a:avLst/>
          </a:prstGeom>
          <a:noFill/>
          <a:ln>
            <a:solidFill>
              <a:srgbClr val="00B0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4822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341B2-BE8F-657E-9EA5-183FFBD99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D8528C9-6254-31F9-D5B3-CD7FA521014D}"/>
              </a:ext>
            </a:extLst>
          </p:cNvPr>
          <p:cNvSpPr/>
          <p:nvPr/>
        </p:nvSpPr>
        <p:spPr>
          <a:xfrm>
            <a:off x="1448128" y="440409"/>
            <a:ext cx="6816237" cy="1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Stage 4: Building Relational Databases Using Power Pivot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105ED6-243E-7EA9-9408-D1EE0E2999DA}"/>
              </a:ext>
            </a:extLst>
          </p:cNvPr>
          <p:cNvSpPr txBox="1"/>
          <p:nvPr/>
        </p:nvSpPr>
        <p:spPr>
          <a:xfrm>
            <a:off x="1284563" y="2100130"/>
            <a:ext cx="35716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33333"/>
                </a:solidFill>
              </a:rPr>
              <a:t>After</a:t>
            </a:r>
            <a:r>
              <a:rPr lang="en-US" dirty="0"/>
              <a:t> </a:t>
            </a:r>
            <a:r>
              <a:rPr lang="en-US" sz="1400" dirty="0">
                <a:solidFill>
                  <a:srgbClr val="333333"/>
                </a:solidFill>
              </a:rPr>
              <a:t>Data cleaning &amp; validation, we start to build relations between Fact table &amp; Dimensional tables using Power Pivots “ Star Schema“</a:t>
            </a:r>
          </a:p>
        </p:txBody>
      </p:sp>
      <p:pic>
        <p:nvPicPr>
          <p:cNvPr id="6" name="Picture 5" descr="A screenshot of a data flow&#10;&#10;AI-generated content may be incorrect.">
            <a:extLst>
              <a:ext uri="{FF2B5EF4-FFF2-40B4-BE49-F238E27FC236}">
                <a16:creationId xmlns:a16="http://schemas.microsoft.com/office/drawing/2014/main" id="{146069BA-DE2B-C401-45BB-450413D94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203" y="967174"/>
            <a:ext cx="3815790" cy="3984939"/>
          </a:xfrm>
          <a:prstGeom prst="rect">
            <a:avLst/>
          </a:prstGeom>
          <a:ln>
            <a:solidFill>
              <a:srgbClr val="00B0F0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8731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25DCE-F714-FD46-0D1F-BE6B1CA4B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E60708D-EE22-FCC8-91CF-F8853C991895}"/>
              </a:ext>
            </a:extLst>
          </p:cNvPr>
          <p:cNvSpPr/>
          <p:nvPr/>
        </p:nvSpPr>
        <p:spPr>
          <a:xfrm>
            <a:off x="1441039" y="414264"/>
            <a:ext cx="6816237" cy="1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Stage 4: Building Relational Databases Using Power Pivot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36553E-4E85-54D8-7746-B399BE6F3003}"/>
              </a:ext>
            </a:extLst>
          </p:cNvPr>
          <p:cNvSpPr txBox="1"/>
          <p:nvPr/>
        </p:nvSpPr>
        <p:spPr>
          <a:xfrm>
            <a:off x="1355978" y="912891"/>
            <a:ext cx="6703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333333"/>
                </a:solidFill>
              </a:rPr>
              <a:t>We add measure in Power Pivot to describe –</a:t>
            </a:r>
            <a:r>
              <a:rPr lang="en-US" sz="1400" dirty="0" err="1">
                <a:solidFill>
                  <a:srgbClr val="333333"/>
                </a:solidFill>
              </a:rPr>
              <a:t>ve</a:t>
            </a:r>
            <a:r>
              <a:rPr lang="en-US" sz="1400" dirty="0">
                <a:solidFill>
                  <a:srgbClr val="333333"/>
                </a:solidFill>
              </a:rPr>
              <a:t> profit &amp; +</a:t>
            </a:r>
            <a:r>
              <a:rPr lang="en-US" sz="1400" dirty="0" err="1">
                <a:solidFill>
                  <a:srgbClr val="333333"/>
                </a:solidFill>
              </a:rPr>
              <a:t>ve</a:t>
            </a:r>
            <a:r>
              <a:rPr lang="en-US" sz="1400" dirty="0">
                <a:solidFill>
                  <a:srgbClr val="333333"/>
                </a:solidFill>
              </a:rPr>
              <a:t> profit values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7841FF-38D5-5D9A-5022-AEEACBF62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039" y="1481076"/>
            <a:ext cx="7208874" cy="3151787"/>
          </a:xfrm>
          <a:prstGeom prst="rect">
            <a:avLst/>
          </a:prstGeom>
          <a:ln>
            <a:solidFill>
              <a:srgbClr val="00B0F0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96305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7194B-29D0-05B5-73B8-7A5A77DBD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3A9B38C-A75E-6091-D38C-5C5F1CA91F41}"/>
              </a:ext>
            </a:extLst>
          </p:cNvPr>
          <p:cNvSpPr/>
          <p:nvPr/>
        </p:nvSpPr>
        <p:spPr>
          <a:xfrm>
            <a:off x="1575719" y="391723"/>
            <a:ext cx="6816237" cy="1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Stage 5: Exploratory Data Analysis and Aggregation in Excel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EDF57DE-659F-98F8-1C31-ADF9C85F7AD6}"/>
              </a:ext>
            </a:extLst>
          </p:cNvPr>
          <p:cNvSpPr/>
          <p:nvPr/>
        </p:nvSpPr>
        <p:spPr>
          <a:xfrm>
            <a:off x="1325977" y="858370"/>
            <a:ext cx="6477869" cy="5488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Start creating pivot tables &amp; dig more in data insights 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333333"/>
              </a:solidFill>
            </a:endParaRPr>
          </a:p>
          <a:p>
            <a:pPr fontAlgn="base">
              <a:lnSpc>
                <a:spcPts val="1400"/>
              </a:lnSpc>
            </a:pP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32DF96-3F20-ECD5-F46F-B41E7CBAB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524" y="1352373"/>
            <a:ext cx="5228352" cy="339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8171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C26FD-CE61-20CB-0DBA-B794F7D8B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1089A3D-23B0-2C17-9C8C-86F7D9E0A42B}"/>
              </a:ext>
            </a:extLst>
          </p:cNvPr>
          <p:cNvSpPr/>
          <p:nvPr/>
        </p:nvSpPr>
        <p:spPr>
          <a:xfrm>
            <a:off x="1575718" y="359824"/>
            <a:ext cx="6816237" cy="1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Stage 5: Exploratory Data Analysis and Aggregation in Excel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E18DE06-EFEB-4EA8-0CAA-B33E74A37847}"/>
              </a:ext>
            </a:extLst>
          </p:cNvPr>
          <p:cNvSpPr/>
          <p:nvPr/>
        </p:nvSpPr>
        <p:spPr>
          <a:xfrm>
            <a:off x="1325977" y="858370"/>
            <a:ext cx="6477869" cy="1102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We find data denormalization as all sales reps appear below each manager causing misleading output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333333"/>
              </a:solidFill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We return to Power query &amp; merge both sales rep &amp; managers tables &amp; error fixed as shown: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333333"/>
              </a:solidFill>
            </a:endParaRPr>
          </a:p>
          <a:p>
            <a:pPr fontAlgn="base">
              <a:lnSpc>
                <a:spcPts val="1400"/>
              </a:lnSpc>
            </a:pPr>
            <a:endParaRPr lang="en-US" sz="1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00789A8-4F58-4301-5019-C8BE74E842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330138"/>
              </p:ext>
            </p:extLst>
          </p:nvPr>
        </p:nvGraphicFramePr>
        <p:xfrm>
          <a:off x="1446884" y="1703074"/>
          <a:ext cx="3255711" cy="2720341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02489">
                  <a:extLst>
                    <a:ext uri="{9D8B030D-6E8A-4147-A177-3AD203B41FA5}">
                      <a16:colId xmlns:a16="http://schemas.microsoft.com/office/drawing/2014/main" val="1614256601"/>
                    </a:ext>
                  </a:extLst>
                </a:gridCol>
                <a:gridCol w="1071181">
                  <a:extLst>
                    <a:ext uri="{9D8B030D-6E8A-4147-A177-3AD203B41FA5}">
                      <a16:colId xmlns:a16="http://schemas.microsoft.com/office/drawing/2014/main" val="3300724107"/>
                    </a:ext>
                  </a:extLst>
                </a:gridCol>
                <a:gridCol w="1282041">
                  <a:extLst>
                    <a:ext uri="{9D8B030D-6E8A-4147-A177-3AD203B41FA5}">
                      <a16:colId xmlns:a16="http://schemas.microsoft.com/office/drawing/2014/main" val="2148873888"/>
                    </a:ext>
                  </a:extLst>
                </a:gridCol>
              </a:tblGrid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Manager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Sales_Rep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Sum of Total_Sales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2994287572"/>
                  </a:ext>
                </a:extLst>
              </a:tr>
              <a:tr h="16125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Dr. Emily Chen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1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1,762,769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823824373"/>
                  </a:ext>
                </a:extLst>
              </a:tr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 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10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1,962,148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2831035412"/>
                  </a:ext>
                </a:extLst>
              </a:tr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 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11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1,255,060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4136465440"/>
                  </a:ext>
                </a:extLst>
              </a:tr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 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12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1,489,182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55040162"/>
                  </a:ext>
                </a:extLst>
              </a:tr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 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13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1,149,911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4144427824"/>
                  </a:ext>
                </a:extLst>
              </a:tr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 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14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1,361,877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2177618328"/>
                  </a:ext>
                </a:extLst>
              </a:tr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 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15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1,710,374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2301348738"/>
                  </a:ext>
                </a:extLst>
              </a:tr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 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2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1,804,234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3033897919"/>
                  </a:ext>
                </a:extLst>
              </a:tr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 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3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1,626,374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2379504970"/>
                  </a:ext>
                </a:extLst>
              </a:tr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 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4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1,485,910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1466776214"/>
                  </a:ext>
                </a:extLst>
              </a:tr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 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5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1,174,995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2782308665"/>
                  </a:ext>
                </a:extLst>
              </a:tr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 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6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1,306,835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3114824545"/>
                  </a:ext>
                </a:extLst>
              </a:tr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 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7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1,750,594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395728326"/>
                  </a:ext>
                </a:extLst>
              </a:tr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 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8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1,065,781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3630745629"/>
                  </a:ext>
                </a:extLst>
              </a:tr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 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9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1,437,706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1533799667"/>
                  </a:ext>
                </a:extLst>
              </a:tr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John Smith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1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1,296,761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3467574724"/>
                  </a:ext>
                </a:extLst>
              </a:tr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 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10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1,176,296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300692654"/>
                  </a:ext>
                </a:extLst>
              </a:tr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 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11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1,255,539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910004701"/>
                  </a:ext>
                </a:extLst>
              </a:tr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 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12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1,200,454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391174656"/>
                  </a:ext>
                </a:extLst>
              </a:tr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 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13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1,270,569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338679017"/>
                  </a:ext>
                </a:extLst>
              </a:tr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 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14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1,270,415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42732469"/>
                  </a:ext>
                </a:extLst>
              </a:tr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 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15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1,905,084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331135416"/>
                  </a:ext>
                </a:extLst>
              </a:tr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 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2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1,734,233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4077753305"/>
                  </a:ext>
                </a:extLst>
              </a:tr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 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3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1,471,626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2786898932"/>
                  </a:ext>
                </a:extLst>
              </a:tr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 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4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1,224,084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2318612997"/>
                  </a:ext>
                </a:extLst>
              </a:tr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 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5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1,367,823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2393012290"/>
                  </a:ext>
                </a:extLst>
              </a:tr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 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6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1,736,418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3299765084"/>
                  </a:ext>
                </a:extLst>
              </a:tr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 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7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1,089,145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2962296609"/>
                  </a:ext>
                </a:extLst>
              </a:tr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 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8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1,284,062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2302659168"/>
                  </a:ext>
                </a:extLst>
              </a:tr>
              <a:tr h="853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 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>
                          <a:effectLst/>
                        </a:rPr>
                        <a:t>Sales Rep 9</a:t>
                      </a:r>
                      <a:endParaRPr lang="en-US" sz="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400" u="none" strike="noStrike" dirty="0">
                          <a:effectLst/>
                        </a:rPr>
                        <a:t>1,281,132</a:t>
                      </a:r>
                      <a:endParaRPr lang="en-US" sz="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370" marR="2370" marT="2370" marB="0" anchor="ctr"/>
                </a:tc>
                <a:extLst>
                  <a:ext uri="{0D108BD9-81ED-4DB2-BD59-A6C34878D82A}">
                    <a16:rowId xmlns:a16="http://schemas.microsoft.com/office/drawing/2014/main" val="411770845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3B4BFF0-5DA9-7EFA-1CA0-482A19D009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088776"/>
              </p:ext>
            </p:extLst>
          </p:nvPr>
        </p:nvGraphicFramePr>
        <p:xfrm>
          <a:off x="4918023" y="1695844"/>
          <a:ext cx="3222158" cy="2720340"/>
        </p:xfrm>
        <a:graphic>
          <a:graphicData uri="http://schemas.openxmlformats.org/drawingml/2006/table">
            <a:tbl>
              <a:tblPr>
                <a:effectLst>
                  <a:outerShdw blurRad="381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984696">
                  <a:extLst>
                    <a:ext uri="{9D8B030D-6E8A-4147-A177-3AD203B41FA5}">
                      <a16:colId xmlns:a16="http://schemas.microsoft.com/office/drawing/2014/main" val="1125011460"/>
                    </a:ext>
                  </a:extLst>
                </a:gridCol>
                <a:gridCol w="1237462">
                  <a:extLst>
                    <a:ext uri="{9D8B030D-6E8A-4147-A177-3AD203B41FA5}">
                      <a16:colId xmlns:a16="http://schemas.microsoft.com/office/drawing/2014/main" val="2085524693"/>
                    </a:ext>
                  </a:extLst>
                </a:gridCol>
              </a:tblGrid>
              <a:tr h="1295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Manager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Sales_Rep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extLst>
                  <a:ext uri="{0D108BD9-81ED-4DB2-BD59-A6C34878D82A}">
                    <a16:rowId xmlns:a16="http://schemas.microsoft.com/office/drawing/2014/main" val="3245785608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Dr. Emily Chen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extLst>
                  <a:ext uri="{0D108BD9-81ED-4DB2-BD59-A6C34878D82A}">
                    <a16:rowId xmlns:a16="http://schemas.microsoft.com/office/drawing/2014/main" val="3622350369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Sales Rep 8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extLst>
                  <a:ext uri="{0D108BD9-81ED-4DB2-BD59-A6C34878D82A}">
                    <a16:rowId xmlns:a16="http://schemas.microsoft.com/office/drawing/2014/main" val="2328924236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John Smith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extLst>
                  <a:ext uri="{0D108BD9-81ED-4DB2-BD59-A6C34878D82A}">
                    <a16:rowId xmlns:a16="http://schemas.microsoft.com/office/drawing/2014/main" val="4234483999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Sales Rep 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extLst>
                  <a:ext uri="{0D108BD9-81ED-4DB2-BD59-A6C34878D82A}">
                    <a16:rowId xmlns:a16="http://schemas.microsoft.com/office/drawing/2014/main" val="886531834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Michael Weber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extLst>
                  <a:ext uri="{0D108BD9-81ED-4DB2-BD59-A6C34878D82A}">
                    <a16:rowId xmlns:a16="http://schemas.microsoft.com/office/drawing/2014/main" val="894946093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Sales Rep 11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extLst>
                  <a:ext uri="{0D108BD9-81ED-4DB2-BD59-A6C34878D82A}">
                    <a16:rowId xmlns:a16="http://schemas.microsoft.com/office/drawing/2014/main" val="3298927121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Sales Rep 12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extLst>
                  <a:ext uri="{0D108BD9-81ED-4DB2-BD59-A6C34878D82A}">
                    <a16:rowId xmlns:a16="http://schemas.microsoft.com/office/drawing/2014/main" val="2210987973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Sales Rep 14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extLst>
                  <a:ext uri="{0D108BD9-81ED-4DB2-BD59-A6C34878D82A}">
                    <a16:rowId xmlns:a16="http://schemas.microsoft.com/office/drawing/2014/main" val="4233526356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Sales Rep 2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extLst>
                  <a:ext uri="{0D108BD9-81ED-4DB2-BD59-A6C34878D82A}">
                    <a16:rowId xmlns:a16="http://schemas.microsoft.com/office/drawing/2014/main" val="3244080797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Sales Rep 7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extLst>
                  <a:ext uri="{0D108BD9-81ED-4DB2-BD59-A6C34878D82A}">
                    <a16:rowId xmlns:a16="http://schemas.microsoft.com/office/drawing/2014/main" val="2572025136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Sales Rep 9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extLst>
                  <a:ext uri="{0D108BD9-81ED-4DB2-BD59-A6C34878D82A}">
                    <a16:rowId xmlns:a16="http://schemas.microsoft.com/office/drawing/2014/main" val="2061897416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Sarah Johnson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extLst>
                  <a:ext uri="{0D108BD9-81ED-4DB2-BD59-A6C34878D82A}">
                    <a16:rowId xmlns:a16="http://schemas.microsoft.com/office/drawing/2014/main" val="113921103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Sales Rep 1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extLst>
                  <a:ext uri="{0D108BD9-81ED-4DB2-BD59-A6C34878D82A}">
                    <a16:rowId xmlns:a16="http://schemas.microsoft.com/office/drawing/2014/main" val="4123209796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Sales Rep 10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extLst>
                  <a:ext uri="{0D108BD9-81ED-4DB2-BD59-A6C34878D82A}">
                    <a16:rowId xmlns:a16="http://schemas.microsoft.com/office/drawing/2014/main" val="3882044010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Sales Rep 13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extLst>
                  <a:ext uri="{0D108BD9-81ED-4DB2-BD59-A6C34878D82A}">
                    <a16:rowId xmlns:a16="http://schemas.microsoft.com/office/drawing/2014/main" val="2892392123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Sales Rep 4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extLst>
                  <a:ext uri="{0D108BD9-81ED-4DB2-BD59-A6C34878D82A}">
                    <a16:rowId xmlns:a16="http://schemas.microsoft.com/office/drawing/2014/main" val="890336528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Sales Rep 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extLst>
                  <a:ext uri="{0D108BD9-81ED-4DB2-BD59-A6C34878D82A}">
                    <a16:rowId xmlns:a16="http://schemas.microsoft.com/office/drawing/2014/main" val="361911230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Takeshi Yamamoto</a:t>
                      </a: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6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extLst>
                  <a:ext uri="{0D108BD9-81ED-4DB2-BD59-A6C34878D82A}">
                    <a16:rowId xmlns:a16="http://schemas.microsoft.com/office/drawing/2014/main" val="4135007261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u="none" strike="noStrike">
                          <a:effectLst/>
                        </a:rPr>
                        <a:t>Sales Rep 15</a:t>
                      </a: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extLst>
                  <a:ext uri="{0D108BD9-81ED-4DB2-BD59-A6C34878D82A}">
                    <a16:rowId xmlns:a16="http://schemas.microsoft.com/office/drawing/2014/main" val="670231797"/>
                  </a:ext>
                </a:extLst>
              </a:tr>
              <a:tr h="1295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u="none" strike="noStrike" dirty="0">
                          <a:effectLst/>
                        </a:rPr>
                        <a:t>Sales Rep 6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579" marR="5579" marT="5579" marB="0" anchor="b"/>
                </a:tc>
                <a:extLst>
                  <a:ext uri="{0D108BD9-81ED-4DB2-BD59-A6C34878D82A}">
                    <a16:rowId xmlns:a16="http://schemas.microsoft.com/office/drawing/2014/main" val="366548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4531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DF16E-89C4-E5D0-D44D-0917E8F36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9D0C09D-21CB-A250-0519-A7484A57B5ED}"/>
              </a:ext>
            </a:extLst>
          </p:cNvPr>
          <p:cNvSpPr/>
          <p:nvPr/>
        </p:nvSpPr>
        <p:spPr>
          <a:xfrm>
            <a:off x="1448128" y="402354"/>
            <a:ext cx="6816237" cy="1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Stage 6: Visualizing Key Trends with Excel Charts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71CEF1D8-9EDC-43A2-AA52-23D6F02315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5720327"/>
              </p:ext>
            </p:extLst>
          </p:nvPr>
        </p:nvGraphicFramePr>
        <p:xfrm>
          <a:off x="1067043" y="893440"/>
          <a:ext cx="1808504" cy="16636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BA24387F-DAA4-46C8-B818-EA841BAC39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33610306"/>
              </p:ext>
            </p:extLst>
          </p:nvPr>
        </p:nvGraphicFramePr>
        <p:xfrm>
          <a:off x="2929825" y="903950"/>
          <a:ext cx="1951153" cy="1644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22E05F36-AFC9-49B7-B4B0-F3BEABC588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0228834"/>
              </p:ext>
            </p:extLst>
          </p:nvPr>
        </p:nvGraphicFramePr>
        <p:xfrm>
          <a:off x="4969349" y="893440"/>
          <a:ext cx="4030272" cy="16636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F0C3FC72-8081-4982-A4C4-90E1082FBD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5326339"/>
              </p:ext>
            </p:extLst>
          </p:nvPr>
        </p:nvGraphicFramePr>
        <p:xfrm>
          <a:off x="1013043" y="2594597"/>
          <a:ext cx="7986578" cy="1909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6421091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B2ED4-0B74-A9BD-EA50-58B9B3870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0875B5B-73C0-ACBA-1C15-02277B215F7A}"/>
              </a:ext>
            </a:extLst>
          </p:cNvPr>
          <p:cNvSpPr/>
          <p:nvPr/>
        </p:nvSpPr>
        <p:spPr>
          <a:xfrm>
            <a:off x="1448128" y="536782"/>
            <a:ext cx="6816237" cy="192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00"/>
              </a:lnSpc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Stage 7: Interactive Business Intelligence with Power BI</a:t>
            </a:r>
          </a:p>
        </p:txBody>
      </p:sp>
      <p:pic>
        <p:nvPicPr>
          <p:cNvPr id="5" name="Picture 4" descr="A yellow sign with black lines&#10;&#10;AI-generated content may be incorrect.">
            <a:hlinkClick r:id="rId2" action="ppaction://hlinkfile"/>
            <a:extLst>
              <a:ext uri="{FF2B5EF4-FFF2-40B4-BE49-F238E27FC236}">
                <a16:creationId xmlns:a16="http://schemas.microsoft.com/office/drawing/2014/main" id="{A98D30AC-4E4D-9949-3C51-DB649E63C9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192733" y="1363643"/>
            <a:ext cx="2758534" cy="2876336"/>
          </a:xfrm>
          <a:prstGeom prst="rect">
            <a:avLst/>
          </a:prstGeom>
          <a:ln>
            <a:solidFill>
              <a:srgbClr val="00B0F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</p:spTree>
    <p:extLst>
      <p:ext uri="{BB962C8B-B14F-4D97-AF65-F5344CB8AC3E}">
        <p14:creationId xmlns:p14="http://schemas.microsoft.com/office/powerpoint/2010/main" val="3157026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51808-A8A3-D6D2-FF43-4062D89C3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C867F3EA-986C-752C-476D-AE07F4A99195}"/>
              </a:ext>
            </a:extLst>
          </p:cNvPr>
          <p:cNvSpPr/>
          <p:nvPr/>
        </p:nvSpPr>
        <p:spPr>
          <a:xfrm>
            <a:off x="1139483" y="1223113"/>
            <a:ext cx="7941212" cy="27699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00" b="1" u="sng" dirty="0">
                <a:solidFill>
                  <a:srgbClr val="0070C0"/>
                </a:solidFill>
              </a:rPr>
              <a:t>What are  the Products that Selling Best? (Product and Portfolio Insights)</a:t>
            </a:r>
          </a:p>
          <a:p>
            <a:endParaRPr lang="en-US" sz="1200" b="1" dirty="0"/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200" b="1" dirty="0"/>
              <a:t>Oncology (Cancer drugs) is the biggest earner</a:t>
            </a:r>
            <a:r>
              <a:rPr lang="en-US" sz="1200" dirty="0"/>
              <a:t>. It makes up almost half (47.23%) of all product sales by value.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Oncology generates the highest total sales and the most profit by a large margin.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The </a:t>
            </a:r>
            <a:r>
              <a:rPr lang="en-US" sz="1200" b="1" dirty="0"/>
              <a:t>top two products</a:t>
            </a:r>
            <a:r>
              <a:rPr lang="en-US" sz="1200" dirty="0"/>
              <a:t> driving the most sales and profit are </a:t>
            </a:r>
            <a:r>
              <a:rPr lang="en-US" sz="1200" b="1" dirty="0"/>
              <a:t>Revlimid</a:t>
            </a:r>
            <a:r>
              <a:rPr lang="en-US" sz="1200" dirty="0"/>
              <a:t> and </a:t>
            </a:r>
            <a:r>
              <a:rPr lang="en-US" sz="1200" b="1" dirty="0"/>
              <a:t>Ozempic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</a:t>
            </a:r>
            <a:r>
              <a:rPr lang="en-US" sz="1200" b="1" dirty="0"/>
              <a:t>Government</a:t>
            </a:r>
            <a:r>
              <a:rPr lang="en-US" sz="1200" dirty="0"/>
              <a:t> channel is a </a:t>
            </a:r>
            <a:r>
              <a:rPr lang="en-US" sz="1200" b="1" dirty="0"/>
              <a:t>very important way to sell</a:t>
            </a:r>
            <a:r>
              <a:rPr lang="en-US" sz="1200" dirty="0"/>
              <a:t> products.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r>
              <a:rPr lang="en-US" sz="1200" b="1" u="sng" dirty="0">
                <a:solidFill>
                  <a:srgbClr val="0070C0"/>
                </a:solidFill>
              </a:rPr>
              <a:t> How is the Business Doing Overall? (Overall Performance and Trend Insights)</a:t>
            </a:r>
          </a:p>
          <a:p>
            <a:endParaRPr lang="en-US" sz="1200" b="1" u="sng" dirty="0">
              <a:solidFill>
                <a:srgbClr val="0070C0"/>
              </a:solidFill>
            </a:endParaRP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200" b="1" dirty="0"/>
              <a:t>Sales and Profit are going up</a:t>
            </a:r>
            <a:r>
              <a:rPr lang="en-US" sz="1200" dirty="0"/>
              <a:t> over the years (2022 to 2024).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200" i="1" dirty="0"/>
              <a:t>Note:</a:t>
            </a:r>
            <a:r>
              <a:rPr lang="en-US" sz="1200" dirty="0"/>
              <a:t> The Gross Profit was slightly lower in 2023 than in 2022 and 2024  “</a:t>
            </a:r>
            <a:r>
              <a:rPr lang="en-US" sz="1200" b="1" dirty="0">
                <a:solidFill>
                  <a:srgbClr val="FF0000"/>
                </a:solidFill>
              </a:rPr>
              <a:t>the least number of  sold units was in 2023</a:t>
            </a:r>
            <a:r>
              <a:rPr lang="en-US" sz="1200" dirty="0"/>
              <a:t>”.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The company sells a </a:t>
            </a:r>
            <a:r>
              <a:rPr lang="en-US" sz="1200" b="1" dirty="0"/>
              <a:t>very high number of products</a:t>
            </a:r>
            <a:r>
              <a:rPr lang="en-US" sz="1200" dirty="0"/>
              <a:t> (141,000 units sold).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200" dirty="0"/>
              <a:t>The manufacturer </a:t>
            </a:r>
            <a:r>
              <a:rPr lang="en-US" sz="1200" b="1" dirty="0"/>
              <a:t>Bristol</a:t>
            </a:r>
            <a:r>
              <a:rPr lang="en-US" sz="1200" dirty="0"/>
              <a:t> provides the highest-profit products, followed by </a:t>
            </a:r>
            <a:r>
              <a:rPr lang="en-US" sz="1200" b="1" dirty="0"/>
              <a:t>Merck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McKesson Corp</a:t>
            </a:r>
            <a:r>
              <a:rPr lang="en-US" sz="1200" dirty="0"/>
              <a:t> is top seller distributor in 2022 and then start  to </a:t>
            </a:r>
            <a:r>
              <a:rPr lang="en-US" sz="1200" b="1" dirty="0">
                <a:solidFill>
                  <a:srgbClr val="FF0000"/>
                </a:solidFill>
              </a:rPr>
              <a:t>decline in 2023 and 2024</a:t>
            </a:r>
            <a:r>
              <a:rPr lang="en-US" sz="1200" dirty="0"/>
              <a:t>.</a:t>
            </a:r>
            <a:br>
              <a:rPr lang="en-US" sz="1200" dirty="0"/>
            </a:br>
            <a:endParaRPr lang="en-US" sz="120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A67F67B-E521-A21F-97A9-F5C873B874A2}"/>
              </a:ext>
            </a:extLst>
          </p:cNvPr>
          <p:cNvSpPr/>
          <p:nvPr/>
        </p:nvSpPr>
        <p:spPr>
          <a:xfrm>
            <a:off x="1139483" y="533231"/>
            <a:ext cx="7146828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000" b="1" dirty="0">
                <a:solidFill>
                  <a:srgbClr val="00244C"/>
                </a:solidFill>
              </a:rPr>
              <a:t>Stage 8: Key Insights &amp;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6394468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79D4B-DE2D-46C1-EF21-40E15F93A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0AEA3849-96FD-E906-FBA2-CB5E4717FD51}"/>
              </a:ext>
            </a:extLst>
          </p:cNvPr>
          <p:cNvSpPr/>
          <p:nvPr/>
        </p:nvSpPr>
        <p:spPr>
          <a:xfrm>
            <a:off x="1139483" y="1394355"/>
            <a:ext cx="7941212" cy="2708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100" b="1" u="sng" dirty="0">
                <a:solidFill>
                  <a:srgbClr val="0070C0"/>
                </a:solidFill>
              </a:rPr>
              <a:t>Who are the Top Performers? (Sales Team Effectiveness Insights)</a:t>
            </a:r>
          </a:p>
          <a:p>
            <a:endParaRPr lang="en-US" sz="1100" b="1" u="sng" dirty="0">
              <a:solidFill>
                <a:srgbClr val="0070C0"/>
              </a:solidFill>
            </a:endParaRP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100" b="1" dirty="0"/>
              <a:t>Michael Weber</a:t>
            </a:r>
            <a:r>
              <a:rPr lang="en-US" sz="1100" dirty="0"/>
              <a:t> is the </a:t>
            </a:r>
            <a:r>
              <a:rPr lang="en-US" sz="1100" b="1" dirty="0"/>
              <a:t>Top Manager</a:t>
            </a:r>
            <a:r>
              <a:rPr lang="en-US" sz="1100" dirty="0"/>
              <a:t>. He brings in the largest share of the profit (38.51%).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100" b="1" dirty="0"/>
              <a:t>Sales Rep 10</a:t>
            </a:r>
            <a:r>
              <a:rPr lang="en-US" sz="1100" dirty="0"/>
              <a:t> is the </a:t>
            </a:r>
            <a:r>
              <a:rPr lang="en-US" sz="1100" b="1" dirty="0"/>
              <a:t>Best Seller</a:t>
            </a:r>
            <a:r>
              <a:rPr lang="en-US" sz="1100" dirty="0"/>
              <a:t>. They are consistently a top performer over the three years.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100" dirty="0"/>
              <a:t>Manager profit can </a:t>
            </a:r>
            <a:r>
              <a:rPr lang="en-US" sz="1100" b="1" dirty="0"/>
              <a:t>change a lot each quarter</a:t>
            </a:r>
            <a:r>
              <a:rPr lang="en-US" sz="1100" dirty="0"/>
              <a:t>. Other managers like Sarah Johnson and Takeshi Yamamoto sometimes earn more profit than Michael Weber in specific quarters.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Dr. Emily Chen has the smallest share of the profit among managers (7.46%).</a:t>
            </a:r>
            <a:br>
              <a:rPr lang="en-US" sz="1100" dirty="0"/>
            </a:br>
            <a:endParaRPr lang="en-US" sz="1100" dirty="0"/>
          </a:p>
          <a:p>
            <a:r>
              <a:rPr lang="en-US" sz="1100" b="1" u="sng" dirty="0">
                <a:solidFill>
                  <a:srgbClr val="0070C0"/>
                </a:solidFill>
              </a:rPr>
              <a:t>Where are the Best Markets? (Geographic Analysis Insights)</a:t>
            </a:r>
          </a:p>
          <a:p>
            <a:endParaRPr lang="en-US" sz="1100" b="1" u="sng" dirty="0">
              <a:solidFill>
                <a:srgbClr val="0070C0"/>
              </a:solidFill>
            </a:endParaRP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100" dirty="0"/>
              <a:t>The </a:t>
            </a:r>
            <a:r>
              <a:rPr lang="en-US" sz="1100" b="1" dirty="0"/>
              <a:t>United States</a:t>
            </a:r>
            <a:r>
              <a:rPr lang="en-US" sz="1100" dirty="0"/>
              <a:t> has the highest sales overall.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100" b="1" dirty="0"/>
              <a:t>Europe</a:t>
            </a:r>
            <a:r>
              <a:rPr lang="en-US" sz="1100" dirty="0"/>
              <a:t> is the </a:t>
            </a:r>
            <a:r>
              <a:rPr lang="en-US" sz="1100" b="1" dirty="0"/>
              <a:t>most profitable region</a:t>
            </a:r>
            <a:r>
              <a:rPr lang="en-US" sz="1100" dirty="0"/>
              <a:t>. It accounts for the largest share of total sales (39.39%).</a:t>
            </a:r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100" dirty="0"/>
              <a:t>The key profit drivers in Europe are </a:t>
            </a:r>
            <a:r>
              <a:rPr lang="en-US" sz="1100" b="1" dirty="0"/>
              <a:t>Italy, Germany, and France</a:t>
            </a:r>
            <a:r>
              <a:rPr lang="en-US" sz="11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The </a:t>
            </a:r>
            <a:r>
              <a:rPr lang="en-US" sz="1100" b="1" dirty="0"/>
              <a:t>most profitable city is Lyon</a:t>
            </a:r>
            <a:r>
              <a:rPr lang="en-US" sz="1100" dirty="0"/>
              <a:t>. Other large cities like Rome, New York, Chicago, and Shanghai are also very important, each bringing in over $1.7M in profit.</a:t>
            </a:r>
            <a:br>
              <a:rPr lang="en-US" sz="1100" dirty="0"/>
            </a:br>
            <a:endParaRPr lang="en-US" sz="1100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B4791F1-8498-FB99-3ADB-A7A41BD04A26}"/>
              </a:ext>
            </a:extLst>
          </p:cNvPr>
          <p:cNvSpPr/>
          <p:nvPr/>
        </p:nvSpPr>
        <p:spPr>
          <a:xfrm>
            <a:off x="1139483" y="526197"/>
            <a:ext cx="7146828" cy="276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000" b="1" dirty="0">
                <a:solidFill>
                  <a:srgbClr val="00244C"/>
                </a:solidFill>
              </a:rPr>
              <a:t>Stage 8: Key Insights &amp;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6759815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83211" y="432213"/>
            <a:ext cx="7139355" cy="302455"/>
          </a:xfrm>
          <a:prstGeom prst="rect">
            <a:avLst/>
          </a:prstGeom>
          <a:noFill/>
          <a:ln/>
        </p:spPr>
        <p:txBody>
          <a:bodyPr wrap="square" lIns="510286" tIns="0" rIns="510286" bIns="0" rtlCol="0" anchor="t">
            <a:spAutoFit/>
          </a:bodyPr>
          <a:lstStyle/>
          <a:p>
            <a:pPr marL="0" indent="0">
              <a:lnSpc>
                <a:spcPts val="2300"/>
              </a:lnSpc>
              <a:buNone/>
            </a:pPr>
            <a:r>
              <a:rPr lang="en-US" sz="2400" b="1" dirty="0">
                <a:solidFill>
                  <a:srgbClr val="004D68"/>
                </a:solidFill>
              </a:rPr>
              <a:t>Stage 8: Insights and Recommendations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621752" y="923543"/>
            <a:ext cx="3832459" cy="250966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7BFF"/>
                </a:solidFill>
              </a:rPr>
              <a:t>Future Work &amp; Strategic Recommendations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21752" y="1270432"/>
            <a:ext cx="7421833" cy="3232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1400" dirty="0"/>
              <a:t>1️⃣ Focus on growing </a:t>
            </a:r>
            <a:r>
              <a:rPr lang="en-US" sz="1400" dirty="0">
                <a:solidFill>
                  <a:srgbClr val="0070C0"/>
                </a:solidFill>
              </a:rPr>
              <a:t>Oncology</a:t>
            </a:r>
            <a:r>
              <a:rPr lang="en-US" sz="1400" dirty="0"/>
              <a:t> products because they bring the most profit.</a:t>
            </a:r>
          </a:p>
          <a:p>
            <a:pPr>
              <a:lnSpc>
                <a:spcPts val="1400"/>
              </a:lnSpc>
            </a:pPr>
            <a:br>
              <a:rPr lang="en-US" sz="1400" dirty="0"/>
            </a:br>
            <a:r>
              <a:rPr lang="en-US" sz="1400" dirty="0"/>
              <a:t>2️⃣ Protect and grow </a:t>
            </a:r>
            <a:r>
              <a:rPr lang="en-US" sz="1400" dirty="0">
                <a:solidFill>
                  <a:srgbClr val="0070C0"/>
                </a:solidFill>
              </a:rPr>
              <a:t>Revlimid</a:t>
            </a:r>
            <a:r>
              <a:rPr lang="en-US" sz="1400" dirty="0"/>
              <a:t> and </a:t>
            </a:r>
            <a:r>
              <a:rPr lang="en-US" sz="1400" dirty="0">
                <a:solidFill>
                  <a:srgbClr val="0070C0"/>
                </a:solidFill>
              </a:rPr>
              <a:t>Ozempic</a:t>
            </a:r>
            <a:r>
              <a:rPr lang="en-US" sz="1400" dirty="0"/>
              <a:t> sales.</a:t>
            </a:r>
          </a:p>
          <a:p>
            <a:pPr>
              <a:lnSpc>
                <a:spcPts val="1400"/>
              </a:lnSpc>
            </a:pPr>
            <a:br>
              <a:rPr lang="en-US" sz="1400" dirty="0"/>
            </a:br>
            <a:r>
              <a:rPr lang="en-US" sz="1400" dirty="0"/>
              <a:t>3️⃣ Strengthen partnerships with government channels.</a:t>
            </a:r>
          </a:p>
          <a:p>
            <a:pPr>
              <a:lnSpc>
                <a:spcPts val="1400"/>
              </a:lnSpc>
            </a:pPr>
            <a:br>
              <a:rPr lang="en-US" sz="1400" dirty="0">
                <a:solidFill>
                  <a:schemeClr val="accent4">
                    <a:lumMod val="75000"/>
                  </a:schemeClr>
                </a:solidFill>
              </a:rPr>
            </a:br>
            <a:r>
              <a:rPr lang="en-US" sz="1400" dirty="0">
                <a:solidFill>
                  <a:schemeClr val="accent4">
                    <a:lumMod val="75000"/>
                  </a:schemeClr>
                </a:solidFill>
              </a:rPr>
              <a:t>4️⃣</a:t>
            </a:r>
            <a:r>
              <a:rPr lang="en-US" sz="1400" dirty="0"/>
              <a:t>Work closely with top manufacturers like </a:t>
            </a:r>
            <a:r>
              <a:rPr lang="en-US" sz="1400" dirty="0">
                <a:solidFill>
                  <a:srgbClr val="0070C0"/>
                </a:solidFill>
              </a:rPr>
              <a:t>Bristol</a:t>
            </a:r>
            <a:r>
              <a:rPr lang="en-US" sz="1400" dirty="0"/>
              <a:t> and </a:t>
            </a:r>
            <a:r>
              <a:rPr lang="en-US" sz="1400" dirty="0">
                <a:solidFill>
                  <a:srgbClr val="0070C0"/>
                </a:solidFill>
              </a:rPr>
              <a:t>Merck</a:t>
            </a:r>
            <a:r>
              <a:rPr lang="en-US" sz="1400" dirty="0"/>
              <a:t>.</a:t>
            </a:r>
          </a:p>
          <a:p>
            <a:pPr>
              <a:lnSpc>
                <a:spcPts val="1400"/>
              </a:lnSpc>
            </a:pPr>
            <a:endParaRPr lang="en-US" sz="1400" dirty="0"/>
          </a:p>
          <a:p>
            <a:pPr>
              <a:lnSpc>
                <a:spcPts val="1400"/>
              </a:lnSpc>
            </a:pPr>
            <a:r>
              <a:rPr lang="en-US" sz="1400" dirty="0"/>
              <a:t>5️⃣ Support </a:t>
            </a:r>
            <a:r>
              <a:rPr lang="en-US" sz="1400" dirty="0">
                <a:solidFill>
                  <a:srgbClr val="0070C0"/>
                </a:solidFill>
              </a:rPr>
              <a:t>McKesson</a:t>
            </a:r>
            <a:r>
              <a:rPr lang="en-US" sz="1400" dirty="0"/>
              <a:t> Corp to improve after their decline.</a:t>
            </a:r>
          </a:p>
          <a:p>
            <a:pPr>
              <a:lnSpc>
                <a:spcPts val="1400"/>
              </a:lnSpc>
            </a:pPr>
            <a:br>
              <a:rPr lang="en-US" sz="1400" dirty="0"/>
            </a:br>
            <a:r>
              <a:rPr lang="en-US" sz="1400" dirty="0"/>
              <a:t>6️⃣Reward top performers and provide training for lower-performing managers.</a:t>
            </a:r>
          </a:p>
          <a:p>
            <a:pPr>
              <a:lnSpc>
                <a:spcPts val="1400"/>
              </a:lnSpc>
            </a:pPr>
            <a:br>
              <a:rPr lang="en-US" sz="1400" dirty="0"/>
            </a:br>
            <a:r>
              <a:rPr lang="en-US" sz="1400" dirty="0"/>
              <a:t>7️⃣ Increase efforts in the US and expand more in top European countries.</a:t>
            </a:r>
          </a:p>
          <a:p>
            <a:pPr>
              <a:lnSpc>
                <a:spcPts val="1400"/>
              </a:lnSpc>
            </a:pPr>
            <a:r>
              <a:rPr lang="en-US" sz="1400" dirty="0"/>
              <a:t> </a:t>
            </a:r>
          </a:p>
          <a:p>
            <a:pPr>
              <a:lnSpc>
                <a:spcPts val="1400"/>
              </a:lnSpc>
            </a:pPr>
            <a:r>
              <a:rPr lang="en-US" sz="1400" dirty="0"/>
              <a:t>8️⃣ Develop growth plans for profitable cities like </a:t>
            </a:r>
            <a:r>
              <a:rPr lang="en-US" sz="1400" dirty="0">
                <a:solidFill>
                  <a:srgbClr val="0070C0"/>
                </a:solidFill>
              </a:rPr>
              <a:t>Lyon</a:t>
            </a:r>
            <a:r>
              <a:rPr lang="en-US" sz="1400" dirty="0"/>
              <a:t>, </a:t>
            </a:r>
            <a:r>
              <a:rPr lang="en-US" sz="1400" dirty="0">
                <a:solidFill>
                  <a:srgbClr val="0070C0"/>
                </a:solidFill>
              </a:rPr>
              <a:t>Rome</a:t>
            </a:r>
            <a:r>
              <a:rPr lang="en-US" sz="1400" dirty="0"/>
              <a:t>, </a:t>
            </a:r>
            <a:r>
              <a:rPr lang="en-US" sz="1400" dirty="0">
                <a:solidFill>
                  <a:srgbClr val="0070C0"/>
                </a:solidFill>
              </a:rPr>
              <a:t>New York</a:t>
            </a:r>
            <a:r>
              <a:rPr lang="en-US" sz="1400" dirty="0"/>
              <a:t>, and </a:t>
            </a:r>
            <a:r>
              <a:rPr lang="en-US" sz="1400" dirty="0">
                <a:solidFill>
                  <a:srgbClr val="0070C0"/>
                </a:solidFill>
              </a:rPr>
              <a:t>Shanghai</a:t>
            </a:r>
            <a:r>
              <a:rPr lang="en-US" sz="1400" dirty="0"/>
              <a:t>.</a:t>
            </a:r>
          </a:p>
          <a:p>
            <a:pPr>
              <a:lnSpc>
                <a:spcPts val="1400"/>
              </a:lnSpc>
            </a:pPr>
            <a:br>
              <a:rPr lang="en-US" sz="1400" dirty="0"/>
            </a:br>
            <a:r>
              <a:rPr lang="en-US" sz="1400" dirty="0"/>
              <a:t>9️⃣ Use performance tracking dashboards to make faster and smarter decisions.</a:t>
            </a:r>
            <a:br>
              <a:rPr lang="en-US" sz="1400" dirty="0"/>
            </a:b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987BF40-72DF-5654-92ED-8D448BEBB18D}"/>
              </a:ext>
            </a:extLst>
          </p:cNvPr>
          <p:cNvSpPr/>
          <p:nvPr/>
        </p:nvSpPr>
        <p:spPr>
          <a:xfrm>
            <a:off x="2933763" y="2110085"/>
            <a:ext cx="32764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737</TotalTime>
  <Words>1704</Words>
  <Application>Microsoft Office PowerPoint</Application>
  <PresentationFormat>On-screen Show (16:9)</PresentationFormat>
  <Paragraphs>322</Paragraphs>
  <Slides>25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Corbel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Joseph Maher Ragi [Pharma]</cp:lastModifiedBy>
  <cp:revision>40</cp:revision>
  <dcterms:created xsi:type="dcterms:W3CDTF">2025-12-04T18:56:55Z</dcterms:created>
  <dcterms:modified xsi:type="dcterms:W3CDTF">2025-12-05T20:04:33Z</dcterms:modified>
</cp:coreProperties>
</file>
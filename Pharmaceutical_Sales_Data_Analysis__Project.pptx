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5029200" cy="5143500"/>
          </a:xfrm>
          <a:prstGeom prst="rect">
            <a:avLst/>
          </a:prstGeom>
          <a:solidFill>
            <a:srgbClr val="004D68"/>
          </a:solidFill>
          <a:ln/>
        </p:spPr>
      </p:sp>
      <p:sp>
        <p:nvSpPr>
          <p:cNvPr id="4" name="Text 1"/>
          <p:cNvSpPr/>
          <p:nvPr/>
        </p:nvSpPr>
        <p:spPr>
          <a:xfrm>
            <a:off x="428625" y="472297"/>
            <a:ext cx="4171950" cy="1508727"/>
          </a:xfrm>
          <a:prstGeom prst="rect">
            <a:avLst/>
          </a:prstGeom>
          <a:noFill/>
          <a:ln/>
        </p:spPr>
        <p:txBody>
          <a:bodyPr wrap="square" lIns="0" tIns="0" rIns="0" bIns="0" rtlCol="0" anchor="t">
            <a:spAutoFit/>
          </a:bodyPr>
          <a:lstStyle/>
          <a:p>
            <a:pPr algn="l" indent="0" marL="0">
              <a:lnSpc>
                <a:spcPts val="4000"/>
              </a:lnSpc>
              <a:buNone/>
            </a:pPr>
            <a:r>
              <a:rPr lang="en-US" sz="3294" b="1" dirty="0">
                <a:solidFill>
                  <a:srgbClr val="FFFFFF"/>
                </a:solidFill>
              </a:rPr>
              <a:t>Pharmaceutical Sales Data Analysis</a:t>
            </a:r>
            <a:endParaRPr lang="en-US" sz="3294" dirty="0"/>
          </a:p>
        </p:txBody>
      </p:sp>
      <p:sp>
        <p:nvSpPr>
          <p:cNvPr id="5" name="Text 2"/>
          <p:cNvSpPr/>
          <p:nvPr/>
        </p:nvSpPr>
        <p:spPr>
          <a:xfrm>
            <a:off x="428625" y="2088180"/>
            <a:ext cx="4171950" cy="594327"/>
          </a:xfrm>
          <a:prstGeom prst="rect">
            <a:avLst/>
          </a:prstGeom>
          <a:noFill/>
          <a:ln/>
        </p:spPr>
        <p:txBody>
          <a:bodyPr wrap="square" lIns="0" tIns="0" rIns="0" bIns="0" rtlCol="0" anchor="t">
            <a:spAutoFit/>
          </a:bodyPr>
          <a:lstStyle/>
          <a:p>
            <a:pPr algn="l" indent="0" marL="0">
              <a:lnSpc>
                <a:spcPts val="2300"/>
              </a:lnSpc>
              <a:buNone/>
            </a:pPr>
            <a:r>
              <a:rPr lang="en-US" sz="1704" dirty="0">
                <a:solidFill>
                  <a:srgbClr val="4ECDC4"/>
                </a:solidFill>
              </a:rPr>
              <a:t>From Raw Data to Actionable Business Insights</a:t>
            </a:r>
            <a:endParaRPr lang="en-US" sz="1704" dirty="0"/>
          </a:p>
        </p:txBody>
      </p:sp>
      <p:sp>
        <p:nvSpPr>
          <p:cNvPr id="6" name="Text 3"/>
          <p:cNvSpPr/>
          <p:nvPr/>
        </p:nvSpPr>
        <p:spPr>
          <a:xfrm>
            <a:off x="428625" y="2982544"/>
            <a:ext cx="2201056" cy="175022"/>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FFFFFF"/>
                </a:solidFill>
              </a:rPr>
              <a:t>A Graduation Project Presentation</a:t>
            </a:r>
            <a:endParaRPr lang="en-US" sz="885" dirty="0"/>
          </a:p>
        </p:txBody>
      </p:sp>
      <p:sp>
        <p:nvSpPr>
          <p:cNvPr id="7" name="Text 4"/>
          <p:cNvSpPr/>
          <p:nvPr/>
        </p:nvSpPr>
        <p:spPr>
          <a:xfrm>
            <a:off x="428625" y="3259699"/>
            <a:ext cx="1018682" cy="175022"/>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FFFFFF"/>
                </a:solidFill>
              </a:rPr>
              <a:t>Team Members:</a:t>
            </a:r>
            <a:endParaRPr lang="en-US" sz="885" dirty="0"/>
          </a:p>
        </p:txBody>
      </p:sp>
      <p:sp>
        <p:nvSpPr>
          <p:cNvPr id="8" name="Text 5"/>
          <p:cNvSpPr/>
          <p:nvPr/>
        </p:nvSpPr>
        <p:spPr>
          <a:xfrm>
            <a:off x="428625" y="3522566"/>
            <a:ext cx="4171950"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FFFFFF"/>
                </a:solidFill>
              </a:rPr>
              <a:t>Joseph Maher</a:t>
            </a:r>
            <a:endParaRPr lang="en-US" sz="834" dirty="0"/>
          </a:p>
        </p:txBody>
      </p:sp>
      <p:sp>
        <p:nvSpPr>
          <p:cNvPr id="9" name="Text 6"/>
          <p:cNvSpPr/>
          <p:nvPr/>
        </p:nvSpPr>
        <p:spPr>
          <a:xfrm>
            <a:off x="428625" y="3696863"/>
            <a:ext cx="4171950"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FFFFFF"/>
                </a:solidFill>
              </a:rPr>
              <a:t>Kholoud Rashad</a:t>
            </a:r>
            <a:endParaRPr lang="en-US" sz="834" dirty="0"/>
          </a:p>
        </p:txBody>
      </p:sp>
      <p:sp>
        <p:nvSpPr>
          <p:cNvPr id="10" name="Text 7"/>
          <p:cNvSpPr/>
          <p:nvPr/>
        </p:nvSpPr>
        <p:spPr>
          <a:xfrm>
            <a:off x="428625" y="3871159"/>
            <a:ext cx="4171950"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FFFFFF"/>
                </a:solidFill>
              </a:rPr>
              <a:t>Ahmed Ashraf</a:t>
            </a:r>
            <a:endParaRPr lang="en-US" sz="834" dirty="0"/>
          </a:p>
        </p:txBody>
      </p:sp>
      <p:sp>
        <p:nvSpPr>
          <p:cNvPr id="11" name="Text 8"/>
          <p:cNvSpPr/>
          <p:nvPr/>
        </p:nvSpPr>
        <p:spPr>
          <a:xfrm>
            <a:off x="428625" y="4045455"/>
            <a:ext cx="4171950"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FFFFFF"/>
                </a:solidFill>
              </a:rPr>
              <a:t>Yehia Elhaytham</a:t>
            </a:r>
            <a:endParaRPr lang="en-US" sz="834" dirty="0"/>
          </a:p>
        </p:txBody>
      </p:sp>
      <p:sp>
        <p:nvSpPr>
          <p:cNvPr id="12" name="Text 9"/>
          <p:cNvSpPr/>
          <p:nvPr/>
        </p:nvSpPr>
        <p:spPr>
          <a:xfrm>
            <a:off x="428625" y="4219752"/>
            <a:ext cx="4171950"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FFFFFF"/>
                </a:solidFill>
              </a:rPr>
              <a:t>Nourhan Hashad</a:t>
            </a:r>
            <a:endParaRPr lang="en-US" sz="834" dirty="0"/>
          </a:p>
        </p:txBody>
      </p:sp>
      <p:sp>
        <p:nvSpPr>
          <p:cNvPr id="13" name="Text 10"/>
          <p:cNvSpPr/>
          <p:nvPr/>
        </p:nvSpPr>
        <p:spPr>
          <a:xfrm>
            <a:off x="428625" y="4394048"/>
            <a:ext cx="4171950"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FFFFFF"/>
                </a:solidFill>
              </a:rPr>
              <a:t>Date: [Date]</a:t>
            </a:r>
            <a:endParaRPr lang="en-US" sz="942" dirty="0"/>
          </a:p>
        </p:txBody>
      </p:sp>
      <p:pic>
        <p:nvPicPr>
          <p:cNvPr id="14" name="Image 1" descr="preencoded.png">    </p:cNvPr>
          <p:cNvPicPr>
            <a:picLocks noChangeAspect="1"/>
          </p:cNvPicPr>
          <p:nvPr/>
        </p:nvPicPr>
        <p:blipFill>
          <a:blip r:embed="rId2"/>
          <a:stretch>
            <a:fillRect/>
          </a:stretch>
        </p:blipFill>
        <p:spPr>
          <a:xfrm>
            <a:off x="5536406" y="1021556"/>
            <a:ext cx="3100388" cy="31003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454004" y="458093"/>
            <a:ext cx="6235991" cy="466130"/>
          </a:xfrm>
          <a:prstGeom prst="rect">
            <a:avLst/>
          </a:prstGeom>
          <a:noFill/>
          <a:ln/>
        </p:spPr>
        <p:txBody>
          <a:bodyPr wrap="none" lIns="0" tIns="0" rIns="0" bIns="0" rtlCol="0" anchor="t">
            <a:spAutoFit/>
          </a:bodyPr>
          <a:lstStyle/>
          <a:p>
            <a:pPr algn="ctr" indent="0" marL="0">
              <a:lnSpc>
                <a:spcPts val="3200"/>
              </a:lnSpc>
              <a:buNone/>
            </a:pPr>
            <a:r>
              <a:rPr lang="en-US" sz="2436" b="1" dirty="0">
                <a:solidFill>
                  <a:srgbClr val="004D68"/>
                </a:solidFill>
              </a:rPr>
              <a:t>Acknowledgement and Appreciation</a:t>
            </a:r>
            <a:endParaRPr lang="en-US" sz="2436" dirty="0"/>
          </a:p>
        </p:txBody>
      </p:sp>
      <p:pic>
        <p:nvPicPr>
          <p:cNvPr id="4" name="Image 1" descr="preencoded.png">    </p:cNvPr>
          <p:cNvPicPr>
            <a:picLocks noChangeAspect="1"/>
          </p:cNvPicPr>
          <p:nvPr/>
        </p:nvPicPr>
        <p:blipFill>
          <a:blip r:embed="rId2"/>
          <a:stretch>
            <a:fillRect/>
          </a:stretch>
        </p:blipFill>
        <p:spPr>
          <a:xfrm>
            <a:off x="3962326" y="1352848"/>
            <a:ext cx="1219349" cy="1071563"/>
          </a:xfrm>
          <a:prstGeom prst="rect">
            <a:avLst/>
          </a:prstGeom>
        </p:spPr>
      </p:pic>
      <p:sp>
        <p:nvSpPr>
          <p:cNvPr id="5" name="Shape 1"/>
          <p:cNvSpPr/>
          <p:nvPr/>
        </p:nvSpPr>
        <p:spPr>
          <a:xfrm>
            <a:off x="1714500" y="2886968"/>
            <a:ext cx="5715000" cy="2227064"/>
          </a:xfrm>
          <a:prstGeom prst="rect">
            <a:avLst/>
          </a:prstGeom>
          <a:solidFill>
            <a:srgbClr val="000000">
              <a:alpha val="0"/>
            </a:srgbClr>
          </a:solidFill>
          <a:ln/>
        </p:spPr>
      </p:sp>
      <p:sp>
        <p:nvSpPr>
          <p:cNvPr id="6" name="Shape 2"/>
          <p:cNvSpPr/>
          <p:nvPr/>
        </p:nvSpPr>
        <p:spPr>
          <a:xfrm>
            <a:off x="1714500" y="2886968"/>
            <a:ext cx="5715000" cy="28575"/>
          </a:xfrm>
          <a:prstGeom prst="rect">
            <a:avLst/>
          </a:prstGeom>
          <a:solidFill>
            <a:srgbClr val="007BFF"/>
          </a:solidFill>
          <a:ln/>
        </p:spPr>
      </p:sp>
      <p:sp>
        <p:nvSpPr>
          <p:cNvPr id="7" name="Shape 3"/>
          <p:cNvSpPr/>
          <p:nvPr/>
        </p:nvSpPr>
        <p:spPr>
          <a:xfrm>
            <a:off x="1714500" y="5085457"/>
            <a:ext cx="5715000" cy="28575"/>
          </a:xfrm>
          <a:prstGeom prst="rect">
            <a:avLst/>
          </a:prstGeom>
          <a:solidFill>
            <a:srgbClr val="007BFF"/>
          </a:solidFill>
          <a:ln/>
        </p:spPr>
      </p:sp>
      <p:sp>
        <p:nvSpPr>
          <p:cNvPr id="8" name="Text 4"/>
          <p:cNvSpPr/>
          <p:nvPr/>
        </p:nvSpPr>
        <p:spPr>
          <a:xfrm>
            <a:off x="2071688" y="3129855"/>
            <a:ext cx="5000625" cy="685800"/>
          </a:xfrm>
          <a:prstGeom prst="rect">
            <a:avLst/>
          </a:prstGeom>
          <a:noFill/>
          <a:ln/>
        </p:spPr>
        <p:txBody>
          <a:bodyPr wrap="square" lIns="0" tIns="0" rIns="0" bIns="0" rtlCol="0" anchor="t">
            <a:spAutoFit/>
          </a:bodyPr>
          <a:lstStyle/>
          <a:p>
            <a:pPr algn="ctr" indent="0" marL="0">
              <a:lnSpc>
                <a:spcPts val="1800"/>
              </a:lnSpc>
              <a:buNone/>
            </a:pPr>
            <a:r>
              <a:rPr lang="en-US" sz="1050" dirty="0">
                <a:solidFill>
                  <a:srgbClr val="333333"/>
                </a:solidFill>
              </a:rPr>
              <a:t>This project was conducted under the guidance and support of the **DEPI Team**. We extend our sincere gratitude for the invaluable resources and framework provided.</a:t>
            </a:r>
            <a:endParaRPr lang="en-US" sz="1050" dirty="0"/>
          </a:p>
        </p:txBody>
      </p:sp>
      <p:sp>
        <p:nvSpPr>
          <p:cNvPr id="9" name="Text 5"/>
          <p:cNvSpPr/>
          <p:nvPr/>
        </p:nvSpPr>
        <p:spPr>
          <a:xfrm>
            <a:off x="2071688" y="3922812"/>
            <a:ext cx="5000625" cy="685800"/>
          </a:xfrm>
          <a:prstGeom prst="rect">
            <a:avLst/>
          </a:prstGeom>
          <a:noFill/>
          <a:ln/>
        </p:spPr>
        <p:txBody>
          <a:bodyPr wrap="square" lIns="0" tIns="0" rIns="0" bIns="0" rtlCol="0" anchor="t">
            <a:spAutoFit/>
          </a:bodyPr>
          <a:lstStyle/>
          <a:p>
            <a:pPr algn="ctr" indent="0" marL="0">
              <a:lnSpc>
                <a:spcPts val="1800"/>
              </a:lnSpc>
              <a:buNone/>
            </a:pPr>
            <a:r>
              <a:rPr lang="en-US" sz="1050" dirty="0">
                <a:solidFill>
                  <a:srgbClr val="333333"/>
                </a:solidFill>
              </a:rPr>
              <a:t>A special thank you to our helpful and excellent instructor, </a:t>
            </a:r>
            <a:pPr algn="ctr" indent="0" marL="0">
              <a:lnSpc>
                <a:spcPts val="1800"/>
              </a:lnSpc>
              <a:buNone/>
            </a:pPr>
            <a:r>
              <a:rPr lang="en-US" sz="987" b="1" dirty="0">
                <a:solidFill>
                  <a:srgbClr val="004D68"/>
                </a:solidFill>
              </a:rPr>
              <a:t>Menna Selim</a:t>
            </a:r>
            <a:pPr algn="ctr" indent="0" marL="0">
              <a:lnSpc>
                <a:spcPts val="1800"/>
              </a:lnSpc>
              <a:buNone/>
            </a:pPr>
            <a:r>
              <a:rPr lang="en-US" sz="1050" dirty="0">
                <a:solidFill>
                  <a:srgbClr val="333333"/>
                </a:solidFill>
              </a:rPr>
              <a:t>, </a:t>
            </a:r>
            <a:pPr algn="ctr" indent="0" marL="0">
              <a:lnSpc>
                <a:spcPts val="1800"/>
              </a:lnSpc>
              <a:buNone/>
            </a:pPr>
            <a:r>
              <a:rPr lang="en-US" sz="1050" dirty="0">
                <a:solidFill>
                  <a:srgbClr val="333333"/>
                </a:solidFill>
              </a:rPr>
              <a:t>for her continuous mentorship and expertise throughout this graduation </a:t>
            </a:r>
            <a:pPr algn="ctr" indent="0" marL="0">
              <a:lnSpc>
                <a:spcPts val="1800"/>
              </a:lnSpc>
              <a:buNone/>
            </a:pPr>
            <a:r>
              <a:rPr lang="en-US" sz="1050" dirty="0">
                <a:solidFill>
                  <a:srgbClr val="333333"/>
                </a:solidFill>
              </a:rPr>
              <a:t>project.</a:t>
            </a:r>
            <a:endParaRPr lang="en-US" sz="1050" dirty="0"/>
          </a:p>
        </p:txBody>
      </p:sp>
      <p:sp>
        <p:nvSpPr>
          <p:cNvPr id="10" name="Text 6"/>
          <p:cNvSpPr/>
          <p:nvPr/>
        </p:nvSpPr>
        <p:spPr>
          <a:xfrm>
            <a:off x="2071688" y="4715768"/>
            <a:ext cx="5000625" cy="155377"/>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4ECDC4"/>
                </a:solidFill>
              </a:rPr>
              <a:t>- The Project Team</a:t>
            </a:r>
            <a:endParaRPr lang="en-US" sz="78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928813" y="572226"/>
            <a:ext cx="5286375" cy="1398389"/>
          </a:xfrm>
          <a:prstGeom prst="rect">
            <a:avLst/>
          </a:prstGeom>
          <a:noFill/>
          <a:ln/>
        </p:spPr>
        <p:txBody>
          <a:bodyPr wrap="square" lIns="0" tIns="0" rIns="0" bIns="0" rtlCol="0" anchor="t">
            <a:spAutoFit/>
          </a:bodyPr>
          <a:lstStyle/>
          <a:p>
            <a:pPr algn="ctr" indent="0" marL="0">
              <a:lnSpc>
                <a:spcPts val="3200"/>
              </a:lnSpc>
              <a:buNone/>
            </a:pPr>
            <a:r>
              <a:rPr lang="en-US" sz="2436" b="1" dirty="0">
                <a:solidFill>
                  <a:srgbClr val="004D68"/>
                </a:solidFill>
              </a:rPr>
              <a:t>Presentation Outline: A Structured Approach to Data-Driven Insights</a:t>
            </a:r>
            <a:endParaRPr lang="en-US" sz="2436" dirty="0"/>
          </a:p>
        </p:txBody>
      </p:sp>
      <p:sp>
        <p:nvSpPr>
          <p:cNvPr id="4" name="Text 1"/>
          <p:cNvSpPr/>
          <p:nvPr/>
        </p:nvSpPr>
        <p:spPr>
          <a:xfrm>
            <a:off x="1928813" y="2390840"/>
            <a:ext cx="214313" cy="233958"/>
          </a:xfrm>
          <a:prstGeom prst="rect">
            <a:avLst/>
          </a:prstGeom>
          <a:noFill/>
          <a:ln/>
        </p:spPr>
        <p:txBody>
          <a:bodyPr wrap="none" lIns="0" tIns="0" rIns="0" bIns="0" rtlCol="0" anchor="t">
            <a:spAutoFit/>
          </a:bodyPr>
          <a:lstStyle/>
          <a:p>
            <a:pPr algn="r" indent="0" marL="0">
              <a:lnSpc>
                <a:spcPts val="1600"/>
              </a:lnSpc>
              <a:buNone/>
            </a:pPr>
            <a:r>
              <a:rPr lang="en-US" sz="1193" b="1" dirty="0">
                <a:solidFill>
                  <a:srgbClr val="007BFF"/>
                </a:solidFill>
              </a:rPr>
              <a:t>1</a:t>
            </a:r>
            <a:endParaRPr lang="en-US" sz="1193" dirty="0"/>
          </a:p>
        </p:txBody>
      </p:sp>
      <p:sp>
        <p:nvSpPr>
          <p:cNvPr id="5" name="Text 2"/>
          <p:cNvSpPr/>
          <p:nvPr/>
        </p:nvSpPr>
        <p:spPr>
          <a:xfrm>
            <a:off x="2250281" y="2327802"/>
            <a:ext cx="2178844"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333333"/>
                </a:solidFill>
              </a:rPr>
              <a:t>Pharmaceutical Sales Data Analysis </a:t>
            </a:r>
            <a:pPr algn="l" indent="0" marL="0">
              <a:lnSpc>
                <a:spcPts val="1400"/>
              </a:lnSpc>
              <a:buNone/>
            </a:pPr>
            <a:r>
              <a:rPr lang="en-US" sz="885" b="1" dirty="0">
                <a:solidFill>
                  <a:srgbClr val="333333"/>
                </a:solidFill>
              </a:rPr>
              <a:t>(Title)</a:t>
            </a:r>
            <a:endParaRPr lang="en-US" sz="942" dirty="0"/>
          </a:p>
        </p:txBody>
      </p:sp>
      <p:sp>
        <p:nvSpPr>
          <p:cNvPr id="6" name="Text 3"/>
          <p:cNvSpPr/>
          <p:nvPr/>
        </p:nvSpPr>
        <p:spPr>
          <a:xfrm>
            <a:off x="4714875" y="2390840"/>
            <a:ext cx="214313" cy="233958"/>
          </a:xfrm>
          <a:prstGeom prst="rect">
            <a:avLst/>
          </a:prstGeom>
          <a:noFill/>
          <a:ln/>
        </p:spPr>
        <p:txBody>
          <a:bodyPr wrap="none" lIns="0" tIns="0" rIns="0" bIns="0" rtlCol="0" anchor="t">
            <a:spAutoFit/>
          </a:bodyPr>
          <a:lstStyle/>
          <a:p>
            <a:pPr algn="r" indent="0" marL="0">
              <a:lnSpc>
                <a:spcPts val="1600"/>
              </a:lnSpc>
              <a:buNone/>
            </a:pPr>
            <a:r>
              <a:rPr lang="en-US" sz="1193" b="1" dirty="0">
                <a:solidFill>
                  <a:srgbClr val="007BFF"/>
                </a:solidFill>
              </a:rPr>
              <a:t>2</a:t>
            </a:r>
            <a:endParaRPr lang="en-US" sz="1193" dirty="0"/>
          </a:p>
        </p:txBody>
      </p:sp>
      <p:sp>
        <p:nvSpPr>
          <p:cNvPr id="7" name="Text 4"/>
          <p:cNvSpPr/>
          <p:nvPr/>
        </p:nvSpPr>
        <p:spPr>
          <a:xfrm>
            <a:off x="5036344" y="2327802"/>
            <a:ext cx="2178844"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333333"/>
                </a:solidFill>
              </a:rPr>
              <a:t>Acknowledgement </a:t>
            </a:r>
            <a:pPr algn="l" indent="0" marL="0">
              <a:lnSpc>
                <a:spcPts val="1400"/>
              </a:lnSpc>
              <a:buNone/>
            </a:pPr>
            <a:r>
              <a:rPr lang="en-US" sz="885" b="1" dirty="0">
                <a:solidFill>
                  <a:srgbClr val="333333"/>
                </a:solidFill>
              </a:rPr>
              <a:t>(DEPI Team &amp; Instructor)</a:t>
            </a:r>
            <a:endParaRPr lang="en-US" sz="942" dirty="0"/>
          </a:p>
        </p:txBody>
      </p:sp>
      <p:sp>
        <p:nvSpPr>
          <p:cNvPr id="8" name="Text 5"/>
          <p:cNvSpPr/>
          <p:nvPr/>
        </p:nvSpPr>
        <p:spPr>
          <a:xfrm>
            <a:off x="1928813" y="2980730"/>
            <a:ext cx="214313" cy="233958"/>
          </a:xfrm>
          <a:prstGeom prst="rect">
            <a:avLst/>
          </a:prstGeom>
          <a:noFill/>
          <a:ln/>
        </p:spPr>
        <p:txBody>
          <a:bodyPr wrap="none" lIns="0" tIns="0" rIns="0" bIns="0" rtlCol="0" anchor="t">
            <a:spAutoFit/>
          </a:bodyPr>
          <a:lstStyle/>
          <a:p>
            <a:pPr algn="r" indent="0" marL="0">
              <a:lnSpc>
                <a:spcPts val="1600"/>
              </a:lnSpc>
              <a:buNone/>
            </a:pPr>
            <a:r>
              <a:rPr lang="en-US" sz="1193" b="1" dirty="0">
                <a:solidFill>
                  <a:srgbClr val="007BFF"/>
                </a:solidFill>
              </a:rPr>
              <a:t>3</a:t>
            </a:r>
            <a:endParaRPr lang="en-US" sz="1193" dirty="0"/>
          </a:p>
        </p:txBody>
      </p:sp>
      <p:sp>
        <p:nvSpPr>
          <p:cNvPr id="9" name="Text 6"/>
          <p:cNvSpPr/>
          <p:nvPr/>
        </p:nvSpPr>
        <p:spPr>
          <a:xfrm>
            <a:off x="2250281" y="3007686"/>
            <a:ext cx="1995311" cy="180017"/>
          </a:xfrm>
          <a:prstGeom prst="rect">
            <a:avLst/>
          </a:prstGeom>
          <a:noFill/>
          <a:ln/>
        </p:spPr>
        <p:txBody>
          <a:bodyPr wrap="none" lIns="0" tIns="0" rIns="0" bIns="0" rtlCol="0" anchor="t">
            <a:spAutoFit/>
          </a:bodyPr>
          <a:lstStyle/>
          <a:p>
            <a:pPr algn="l" indent="0" marL="0">
              <a:lnSpc>
                <a:spcPts val="1400"/>
              </a:lnSpc>
              <a:buNone/>
            </a:pPr>
            <a:r>
              <a:rPr lang="en-US" sz="942" dirty="0">
                <a:solidFill>
                  <a:srgbClr val="333333"/>
                </a:solidFill>
              </a:rPr>
              <a:t>Project Introduction &amp; Objectives</a:t>
            </a:r>
            <a:endParaRPr lang="en-US" sz="942" dirty="0"/>
          </a:p>
        </p:txBody>
      </p:sp>
      <p:sp>
        <p:nvSpPr>
          <p:cNvPr id="10" name="Text 7"/>
          <p:cNvSpPr/>
          <p:nvPr/>
        </p:nvSpPr>
        <p:spPr>
          <a:xfrm>
            <a:off x="4714875" y="2980730"/>
            <a:ext cx="214313" cy="233958"/>
          </a:xfrm>
          <a:prstGeom prst="rect">
            <a:avLst/>
          </a:prstGeom>
          <a:noFill/>
          <a:ln/>
        </p:spPr>
        <p:txBody>
          <a:bodyPr wrap="none" lIns="0" tIns="0" rIns="0" bIns="0" rtlCol="0" anchor="t">
            <a:spAutoFit/>
          </a:bodyPr>
          <a:lstStyle/>
          <a:p>
            <a:pPr algn="r" indent="0" marL="0">
              <a:lnSpc>
                <a:spcPts val="1600"/>
              </a:lnSpc>
              <a:buNone/>
            </a:pPr>
            <a:r>
              <a:rPr lang="en-US" sz="1193" b="1" dirty="0">
                <a:solidFill>
                  <a:srgbClr val="007BFF"/>
                </a:solidFill>
              </a:rPr>
              <a:t>4</a:t>
            </a:r>
            <a:endParaRPr lang="en-US" sz="1193" dirty="0"/>
          </a:p>
        </p:txBody>
      </p:sp>
      <p:sp>
        <p:nvSpPr>
          <p:cNvPr id="11" name="Text 8"/>
          <p:cNvSpPr/>
          <p:nvPr/>
        </p:nvSpPr>
        <p:spPr>
          <a:xfrm>
            <a:off x="5036344" y="3007686"/>
            <a:ext cx="2087370" cy="180017"/>
          </a:xfrm>
          <a:prstGeom prst="rect">
            <a:avLst/>
          </a:prstGeom>
          <a:noFill/>
          <a:ln/>
        </p:spPr>
        <p:txBody>
          <a:bodyPr wrap="none" lIns="0" tIns="0" rIns="0" bIns="0" rtlCol="0" anchor="t">
            <a:spAutoFit/>
          </a:bodyPr>
          <a:lstStyle/>
          <a:p>
            <a:pPr algn="l" indent="0" marL="0">
              <a:lnSpc>
                <a:spcPts val="1400"/>
              </a:lnSpc>
              <a:buNone/>
            </a:pPr>
            <a:r>
              <a:rPr lang="en-US" sz="942" dirty="0">
                <a:solidFill>
                  <a:srgbClr val="333333"/>
                </a:solidFill>
              </a:rPr>
              <a:t>Data Cleaning &amp; Preparation </a:t>
            </a:r>
            <a:pPr algn="l" indent="0" marL="0">
              <a:lnSpc>
                <a:spcPts val="1400"/>
              </a:lnSpc>
              <a:buNone/>
            </a:pPr>
            <a:r>
              <a:rPr lang="en-US" sz="885" b="1" dirty="0">
                <a:solidFill>
                  <a:srgbClr val="333333"/>
                </a:solidFill>
              </a:rPr>
              <a:t>(SQL)</a:t>
            </a:r>
            <a:endParaRPr lang="en-US" sz="942" dirty="0"/>
          </a:p>
        </p:txBody>
      </p:sp>
      <p:sp>
        <p:nvSpPr>
          <p:cNvPr id="12" name="Text 9"/>
          <p:cNvSpPr/>
          <p:nvPr/>
        </p:nvSpPr>
        <p:spPr>
          <a:xfrm>
            <a:off x="1928813" y="3570619"/>
            <a:ext cx="214313" cy="233958"/>
          </a:xfrm>
          <a:prstGeom prst="rect">
            <a:avLst/>
          </a:prstGeom>
          <a:noFill/>
          <a:ln/>
        </p:spPr>
        <p:txBody>
          <a:bodyPr wrap="none" lIns="0" tIns="0" rIns="0" bIns="0" rtlCol="0" anchor="t">
            <a:spAutoFit/>
          </a:bodyPr>
          <a:lstStyle/>
          <a:p>
            <a:pPr algn="r" indent="0" marL="0">
              <a:lnSpc>
                <a:spcPts val="1600"/>
              </a:lnSpc>
              <a:buNone/>
            </a:pPr>
            <a:r>
              <a:rPr lang="en-US" sz="1193" b="1" dirty="0">
                <a:solidFill>
                  <a:srgbClr val="007BFF"/>
                </a:solidFill>
              </a:rPr>
              <a:t>5</a:t>
            </a:r>
            <a:endParaRPr lang="en-US" sz="1193" dirty="0"/>
          </a:p>
        </p:txBody>
      </p:sp>
      <p:sp>
        <p:nvSpPr>
          <p:cNvPr id="13" name="Text 10"/>
          <p:cNvSpPr/>
          <p:nvPr/>
        </p:nvSpPr>
        <p:spPr>
          <a:xfrm>
            <a:off x="2250281" y="3507581"/>
            <a:ext cx="2178844"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333333"/>
                </a:solidFill>
              </a:rPr>
              <a:t>Exploratory Data Analysis </a:t>
            </a:r>
            <a:pPr algn="l" indent="0" marL="0">
              <a:lnSpc>
                <a:spcPts val="1400"/>
              </a:lnSpc>
              <a:buNone/>
            </a:pPr>
            <a:r>
              <a:rPr lang="en-US" sz="885" b="1" dirty="0">
                <a:solidFill>
                  <a:srgbClr val="333333"/>
                </a:solidFill>
              </a:rPr>
              <a:t>(Excel Pivot)</a:t>
            </a:r>
            <a:endParaRPr lang="en-US" sz="942" dirty="0"/>
          </a:p>
        </p:txBody>
      </p:sp>
      <p:sp>
        <p:nvSpPr>
          <p:cNvPr id="14" name="Text 11"/>
          <p:cNvSpPr/>
          <p:nvPr/>
        </p:nvSpPr>
        <p:spPr>
          <a:xfrm>
            <a:off x="4714875" y="3570619"/>
            <a:ext cx="214313" cy="233958"/>
          </a:xfrm>
          <a:prstGeom prst="rect">
            <a:avLst/>
          </a:prstGeom>
          <a:noFill/>
          <a:ln/>
        </p:spPr>
        <p:txBody>
          <a:bodyPr wrap="none" lIns="0" tIns="0" rIns="0" bIns="0" rtlCol="0" anchor="t">
            <a:spAutoFit/>
          </a:bodyPr>
          <a:lstStyle/>
          <a:p>
            <a:pPr algn="r" indent="0" marL="0">
              <a:lnSpc>
                <a:spcPts val="1600"/>
              </a:lnSpc>
              <a:buNone/>
            </a:pPr>
            <a:r>
              <a:rPr lang="en-US" sz="1193" b="1" dirty="0">
                <a:solidFill>
                  <a:srgbClr val="007BFF"/>
                </a:solidFill>
              </a:rPr>
              <a:t>6</a:t>
            </a:r>
            <a:endParaRPr lang="en-US" sz="1193" dirty="0"/>
          </a:p>
        </p:txBody>
      </p:sp>
      <p:sp>
        <p:nvSpPr>
          <p:cNvPr id="15" name="Text 12"/>
          <p:cNvSpPr/>
          <p:nvPr/>
        </p:nvSpPr>
        <p:spPr>
          <a:xfrm>
            <a:off x="5036344" y="3507581"/>
            <a:ext cx="2178844"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333333"/>
                </a:solidFill>
              </a:rPr>
              <a:t>Visualizing Key Trends </a:t>
            </a:r>
            <a:pPr algn="l" indent="0" marL="0">
              <a:lnSpc>
                <a:spcPts val="1400"/>
              </a:lnSpc>
              <a:buNone/>
            </a:pPr>
            <a:r>
              <a:rPr lang="en-US" sz="885" b="1" dirty="0">
                <a:solidFill>
                  <a:srgbClr val="333333"/>
                </a:solidFill>
              </a:rPr>
              <a:t>(Excel Charts)</a:t>
            </a:r>
            <a:endParaRPr lang="en-US" sz="942" dirty="0"/>
          </a:p>
        </p:txBody>
      </p:sp>
      <p:sp>
        <p:nvSpPr>
          <p:cNvPr id="16" name="Text 13"/>
          <p:cNvSpPr/>
          <p:nvPr/>
        </p:nvSpPr>
        <p:spPr>
          <a:xfrm>
            <a:off x="1928813" y="4160509"/>
            <a:ext cx="214313" cy="233958"/>
          </a:xfrm>
          <a:prstGeom prst="rect">
            <a:avLst/>
          </a:prstGeom>
          <a:noFill/>
          <a:ln/>
        </p:spPr>
        <p:txBody>
          <a:bodyPr wrap="none" lIns="0" tIns="0" rIns="0" bIns="0" rtlCol="0" anchor="t">
            <a:spAutoFit/>
          </a:bodyPr>
          <a:lstStyle/>
          <a:p>
            <a:pPr algn="r" indent="0" marL="0">
              <a:lnSpc>
                <a:spcPts val="1600"/>
              </a:lnSpc>
              <a:buNone/>
            </a:pPr>
            <a:r>
              <a:rPr lang="en-US" sz="1193" b="1" dirty="0">
                <a:solidFill>
                  <a:srgbClr val="007BFF"/>
                </a:solidFill>
              </a:rPr>
              <a:t>7</a:t>
            </a:r>
            <a:endParaRPr lang="en-US" sz="1193" dirty="0"/>
          </a:p>
        </p:txBody>
      </p:sp>
      <p:sp>
        <p:nvSpPr>
          <p:cNvPr id="17" name="Text 14"/>
          <p:cNvSpPr/>
          <p:nvPr/>
        </p:nvSpPr>
        <p:spPr>
          <a:xfrm>
            <a:off x="2250281" y="4187465"/>
            <a:ext cx="2097305" cy="180017"/>
          </a:xfrm>
          <a:prstGeom prst="rect">
            <a:avLst/>
          </a:prstGeom>
          <a:noFill/>
          <a:ln/>
        </p:spPr>
        <p:txBody>
          <a:bodyPr wrap="none" lIns="0" tIns="0" rIns="0" bIns="0" rtlCol="0" anchor="t">
            <a:spAutoFit/>
          </a:bodyPr>
          <a:lstStyle/>
          <a:p>
            <a:pPr algn="l" indent="0" marL="0">
              <a:lnSpc>
                <a:spcPts val="1400"/>
              </a:lnSpc>
              <a:buNone/>
            </a:pPr>
            <a:r>
              <a:rPr lang="en-US" sz="942" dirty="0">
                <a:solidFill>
                  <a:srgbClr val="333333"/>
                </a:solidFill>
              </a:rPr>
              <a:t>Interactive Dashboards </a:t>
            </a:r>
            <a:pPr algn="l" indent="0" marL="0">
              <a:lnSpc>
                <a:spcPts val="1400"/>
              </a:lnSpc>
              <a:buNone/>
            </a:pPr>
            <a:r>
              <a:rPr lang="en-US" sz="885" b="1" dirty="0">
                <a:solidFill>
                  <a:srgbClr val="333333"/>
                </a:solidFill>
              </a:rPr>
              <a:t>(Power BI)</a:t>
            </a:r>
            <a:endParaRPr lang="en-US" sz="942" dirty="0"/>
          </a:p>
        </p:txBody>
      </p:sp>
      <p:sp>
        <p:nvSpPr>
          <p:cNvPr id="18" name="Text 15"/>
          <p:cNvSpPr/>
          <p:nvPr/>
        </p:nvSpPr>
        <p:spPr>
          <a:xfrm>
            <a:off x="4714875" y="4160509"/>
            <a:ext cx="214313" cy="233958"/>
          </a:xfrm>
          <a:prstGeom prst="rect">
            <a:avLst/>
          </a:prstGeom>
          <a:noFill/>
          <a:ln/>
        </p:spPr>
        <p:txBody>
          <a:bodyPr wrap="none" lIns="0" tIns="0" rIns="0" bIns="0" rtlCol="0" anchor="t">
            <a:spAutoFit/>
          </a:bodyPr>
          <a:lstStyle/>
          <a:p>
            <a:pPr algn="r" indent="0" marL="0">
              <a:lnSpc>
                <a:spcPts val="1600"/>
              </a:lnSpc>
              <a:buNone/>
            </a:pPr>
            <a:r>
              <a:rPr lang="en-US" sz="1193" b="1" dirty="0">
                <a:solidFill>
                  <a:srgbClr val="007BFF"/>
                </a:solidFill>
              </a:rPr>
              <a:t>8</a:t>
            </a:r>
            <a:endParaRPr lang="en-US" sz="1193" dirty="0"/>
          </a:p>
        </p:txBody>
      </p:sp>
      <p:sp>
        <p:nvSpPr>
          <p:cNvPr id="19" name="Text 16"/>
          <p:cNvSpPr/>
          <p:nvPr/>
        </p:nvSpPr>
        <p:spPr>
          <a:xfrm>
            <a:off x="5036344" y="4187465"/>
            <a:ext cx="1818754" cy="180017"/>
          </a:xfrm>
          <a:prstGeom prst="rect">
            <a:avLst/>
          </a:prstGeom>
          <a:noFill/>
          <a:ln/>
        </p:spPr>
        <p:txBody>
          <a:bodyPr wrap="none" lIns="0" tIns="0" rIns="0" bIns="0" rtlCol="0" anchor="t">
            <a:spAutoFit/>
          </a:bodyPr>
          <a:lstStyle/>
          <a:p>
            <a:pPr algn="l" indent="0" marL="0">
              <a:lnSpc>
                <a:spcPts val="1400"/>
              </a:lnSpc>
              <a:buNone/>
            </a:pPr>
            <a:r>
              <a:rPr lang="en-US" sz="942" dirty="0">
                <a:solidFill>
                  <a:srgbClr val="333333"/>
                </a:solidFill>
              </a:rPr>
              <a:t>Key Sales Insights &amp; Summary</a:t>
            </a:r>
            <a:endParaRPr lang="en-US" sz="942" dirty="0"/>
          </a:p>
        </p:txBody>
      </p:sp>
      <p:sp>
        <p:nvSpPr>
          <p:cNvPr id="20" name="Text 17"/>
          <p:cNvSpPr/>
          <p:nvPr/>
        </p:nvSpPr>
        <p:spPr>
          <a:xfrm>
            <a:off x="1928813" y="4687360"/>
            <a:ext cx="214313" cy="233958"/>
          </a:xfrm>
          <a:prstGeom prst="rect">
            <a:avLst/>
          </a:prstGeom>
          <a:noFill/>
          <a:ln/>
        </p:spPr>
        <p:txBody>
          <a:bodyPr wrap="none" lIns="0" tIns="0" rIns="0" bIns="0" rtlCol="0" anchor="t">
            <a:spAutoFit/>
          </a:bodyPr>
          <a:lstStyle/>
          <a:p>
            <a:pPr algn="r" indent="0" marL="0">
              <a:lnSpc>
                <a:spcPts val="1600"/>
              </a:lnSpc>
              <a:buNone/>
            </a:pPr>
            <a:r>
              <a:rPr lang="en-US" sz="1193" b="1" dirty="0">
                <a:solidFill>
                  <a:srgbClr val="007BFF"/>
                </a:solidFill>
              </a:rPr>
              <a:t>9</a:t>
            </a:r>
            <a:endParaRPr lang="en-US" sz="1193" dirty="0"/>
          </a:p>
        </p:txBody>
      </p:sp>
      <p:sp>
        <p:nvSpPr>
          <p:cNvPr id="21" name="Text 18"/>
          <p:cNvSpPr/>
          <p:nvPr/>
        </p:nvSpPr>
        <p:spPr>
          <a:xfrm>
            <a:off x="2250281" y="4714317"/>
            <a:ext cx="1571095" cy="180017"/>
          </a:xfrm>
          <a:prstGeom prst="rect">
            <a:avLst/>
          </a:prstGeom>
          <a:noFill/>
          <a:ln/>
        </p:spPr>
        <p:txBody>
          <a:bodyPr wrap="none" lIns="0" tIns="0" rIns="0" bIns="0" rtlCol="0" anchor="t">
            <a:spAutoFit/>
          </a:bodyPr>
          <a:lstStyle/>
          <a:p>
            <a:pPr algn="l" indent="0" marL="0">
              <a:lnSpc>
                <a:spcPts val="1400"/>
              </a:lnSpc>
              <a:buNone/>
            </a:pPr>
            <a:r>
              <a:rPr lang="en-US" sz="942" dirty="0">
                <a:solidFill>
                  <a:srgbClr val="333333"/>
                </a:solidFill>
              </a:rPr>
              <a:t>Conclusion &amp; Future Work</a:t>
            </a:r>
            <a:endParaRPr lang="en-US" sz="942" dirty="0"/>
          </a:p>
        </p:txBody>
      </p:sp>
      <p:sp>
        <p:nvSpPr>
          <p:cNvPr id="22" name="Text 19"/>
          <p:cNvSpPr/>
          <p:nvPr/>
        </p:nvSpPr>
        <p:spPr>
          <a:xfrm>
            <a:off x="4714875" y="4687360"/>
            <a:ext cx="214313" cy="233958"/>
          </a:xfrm>
          <a:prstGeom prst="rect">
            <a:avLst/>
          </a:prstGeom>
          <a:noFill/>
          <a:ln/>
        </p:spPr>
        <p:txBody>
          <a:bodyPr wrap="none" lIns="0" tIns="0" rIns="0" bIns="0" rtlCol="0" anchor="t">
            <a:spAutoFit/>
          </a:bodyPr>
          <a:lstStyle/>
          <a:p>
            <a:pPr algn="r" indent="0" marL="0">
              <a:lnSpc>
                <a:spcPts val="1600"/>
              </a:lnSpc>
              <a:buNone/>
            </a:pPr>
            <a:r>
              <a:rPr lang="en-US" sz="1193" b="1" dirty="0">
                <a:solidFill>
                  <a:srgbClr val="007BFF"/>
                </a:solidFill>
              </a:rPr>
              <a:t>10</a:t>
            </a:r>
            <a:endParaRPr lang="en-US" sz="1193" dirty="0"/>
          </a:p>
        </p:txBody>
      </p:sp>
      <p:sp>
        <p:nvSpPr>
          <p:cNvPr id="23" name="Text 20"/>
          <p:cNvSpPr/>
          <p:nvPr/>
        </p:nvSpPr>
        <p:spPr>
          <a:xfrm>
            <a:off x="5036344" y="4714317"/>
            <a:ext cx="1569309" cy="180017"/>
          </a:xfrm>
          <a:prstGeom prst="rect">
            <a:avLst/>
          </a:prstGeom>
          <a:noFill/>
          <a:ln/>
        </p:spPr>
        <p:txBody>
          <a:bodyPr wrap="none" lIns="0" tIns="0" rIns="0" bIns="0" rtlCol="0" anchor="t">
            <a:spAutoFit/>
          </a:bodyPr>
          <a:lstStyle/>
          <a:p>
            <a:pPr algn="l" indent="0" marL="0">
              <a:lnSpc>
                <a:spcPts val="1400"/>
              </a:lnSpc>
              <a:buNone/>
            </a:pPr>
            <a:r>
              <a:rPr lang="en-US" sz="942" dirty="0">
                <a:solidFill>
                  <a:srgbClr val="333333"/>
                </a:solidFill>
              </a:rPr>
              <a:t>Thank You and Discussion</a:t>
            </a:r>
            <a:endParaRPr lang="en-US" sz="94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697297"/>
            <a:ext cx="3786188" cy="891490"/>
          </a:xfrm>
          <a:prstGeom prst="rect">
            <a:avLst/>
          </a:prstGeom>
          <a:noFill/>
          <a:ln/>
        </p:spPr>
        <p:txBody>
          <a:bodyPr wrap="square" lIns="0" tIns="0" rIns="0" bIns="0" rtlCol="0" anchor="t">
            <a:spAutoFit/>
          </a:bodyPr>
          <a:lstStyle/>
          <a:p>
            <a:pPr algn="l" indent="0" marL="0">
              <a:lnSpc>
                <a:spcPts val="2300"/>
              </a:lnSpc>
              <a:buNone/>
            </a:pPr>
            <a:r>
              <a:rPr lang="en-US" sz="1602" b="1" dirty="0">
                <a:solidFill>
                  <a:srgbClr val="004D68"/>
                </a:solidFill>
              </a:rPr>
              <a:t>Project Introduction: Transforming Sales Data into Strategic Intelligence</a:t>
            </a:r>
            <a:endParaRPr lang="en-US" sz="1602" dirty="0"/>
          </a:p>
        </p:txBody>
      </p:sp>
      <p:sp>
        <p:nvSpPr>
          <p:cNvPr id="4" name="Text 1"/>
          <p:cNvSpPr/>
          <p:nvPr/>
        </p:nvSpPr>
        <p:spPr>
          <a:xfrm>
            <a:off x="428625" y="1731662"/>
            <a:ext cx="3786188" cy="914316"/>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33333"/>
                </a:solidFill>
              </a:rPr>
              <a:t>The core objective of this project is to leverage advanced data analysis techniques to extract meaningful patterns from pharmaceutical sales data. This analysis aims to support strategic decision-making in areas such as inventory management, sales forecasting, and market penetration.</a:t>
            </a:r>
            <a:endParaRPr lang="en-US" sz="834" dirty="0"/>
          </a:p>
        </p:txBody>
      </p:sp>
      <p:sp>
        <p:nvSpPr>
          <p:cNvPr id="5" name="Text 2"/>
          <p:cNvSpPr/>
          <p:nvPr/>
        </p:nvSpPr>
        <p:spPr>
          <a:xfrm>
            <a:off x="428625" y="2860291"/>
            <a:ext cx="3786188"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007BFF"/>
                </a:solidFill>
              </a:rPr>
              <a:t>Key Objectives</a:t>
            </a:r>
            <a:endParaRPr lang="en-US" sz="683" dirty="0"/>
          </a:p>
        </p:txBody>
      </p:sp>
      <p:sp>
        <p:nvSpPr>
          <p:cNvPr id="6" name="Text 3"/>
          <p:cNvSpPr/>
          <p:nvPr/>
        </p:nvSpPr>
        <p:spPr>
          <a:xfrm>
            <a:off x="571500" y="3103178"/>
            <a:ext cx="3643313" cy="321469"/>
          </a:xfrm>
          <a:prstGeom prst="rect">
            <a:avLst/>
          </a:prstGeom>
          <a:noFill/>
          <a:ln/>
        </p:spPr>
        <p:txBody>
          <a:bodyPr wrap="square" lIns="0" tIns="0" rIns="0" bIns="0" rtlCol="0" anchor="t">
            <a:spAutoFit/>
          </a:bodyPr>
          <a:lstStyle/>
          <a:p>
            <a:pPr algn="l" indent="0" marL="0">
              <a:lnSpc>
                <a:spcPts val="1300"/>
              </a:lnSpc>
              <a:buNone/>
            </a:pPr>
            <a:r>
              <a:rPr lang="en-US" sz="734" b="1" dirty="0">
                <a:solidFill>
                  <a:srgbClr val="004D68"/>
                </a:solidFill>
              </a:rPr>
              <a:t>Identify Sales Trends:</a:t>
            </a:r>
            <a:pPr algn="l" indent="0" marL="0">
              <a:lnSpc>
                <a:spcPts val="1300"/>
              </a:lnSpc>
              <a:buNone/>
            </a:pPr>
            <a:r>
              <a:rPr lang="en-US" sz="780" dirty="0">
                <a:solidFill>
                  <a:srgbClr val="333333"/>
                </a:solidFill>
              </a:rPr>
              <a:t> Determine temporal and regional variations in </a:t>
            </a:r>
            <a:pPr algn="l" indent="0" marL="0">
              <a:lnSpc>
                <a:spcPts val="1300"/>
              </a:lnSpc>
              <a:buNone/>
            </a:pPr>
            <a:r>
              <a:rPr lang="en-US" sz="780" dirty="0">
                <a:solidFill>
                  <a:srgbClr val="333333"/>
                </a:solidFill>
              </a:rPr>
              <a:t>product sales.</a:t>
            </a:r>
            <a:endParaRPr lang="en-US" sz="734" dirty="0"/>
          </a:p>
        </p:txBody>
      </p:sp>
      <p:sp>
        <p:nvSpPr>
          <p:cNvPr id="7" name="Text 4"/>
          <p:cNvSpPr/>
          <p:nvPr/>
        </p:nvSpPr>
        <p:spPr>
          <a:xfrm>
            <a:off x="571500" y="3538947"/>
            <a:ext cx="3643313" cy="321469"/>
          </a:xfrm>
          <a:prstGeom prst="rect">
            <a:avLst/>
          </a:prstGeom>
          <a:noFill/>
          <a:ln/>
        </p:spPr>
        <p:txBody>
          <a:bodyPr wrap="square" lIns="0" tIns="0" rIns="0" bIns="0" rtlCol="0" anchor="t">
            <a:spAutoFit/>
          </a:bodyPr>
          <a:lstStyle/>
          <a:p>
            <a:pPr algn="l" indent="0" marL="0">
              <a:lnSpc>
                <a:spcPts val="1300"/>
              </a:lnSpc>
              <a:buNone/>
            </a:pPr>
            <a:r>
              <a:rPr lang="en-US" sz="734" b="1" dirty="0">
                <a:solidFill>
                  <a:srgbClr val="004D68"/>
                </a:solidFill>
              </a:rPr>
              <a:t>Optimize Data Quality:</a:t>
            </a:r>
            <a:pPr algn="l" indent="0" marL="0">
              <a:lnSpc>
                <a:spcPts val="1300"/>
              </a:lnSpc>
              <a:buNone/>
            </a:pPr>
            <a:r>
              <a:rPr lang="en-US" sz="780" dirty="0">
                <a:solidFill>
                  <a:srgbClr val="333333"/>
                </a:solidFill>
              </a:rPr>
              <a:t> Implement robust cleaning procedures to </a:t>
            </a:r>
            <a:pPr algn="l" indent="0" marL="0">
              <a:lnSpc>
                <a:spcPts val="1300"/>
              </a:lnSpc>
              <a:buNone/>
            </a:pPr>
            <a:r>
              <a:rPr lang="en-US" sz="780" dirty="0">
                <a:solidFill>
                  <a:srgbClr val="333333"/>
                </a:solidFill>
              </a:rPr>
              <a:t>ensure reliable analysis.</a:t>
            </a:r>
            <a:endParaRPr lang="en-US" sz="734" dirty="0"/>
          </a:p>
        </p:txBody>
      </p:sp>
      <p:sp>
        <p:nvSpPr>
          <p:cNvPr id="8" name="Text 5"/>
          <p:cNvSpPr/>
          <p:nvPr/>
        </p:nvSpPr>
        <p:spPr>
          <a:xfrm>
            <a:off x="571500" y="3974716"/>
            <a:ext cx="3643313" cy="321469"/>
          </a:xfrm>
          <a:prstGeom prst="rect">
            <a:avLst/>
          </a:prstGeom>
          <a:noFill/>
          <a:ln/>
        </p:spPr>
        <p:txBody>
          <a:bodyPr wrap="square" lIns="0" tIns="0" rIns="0" bIns="0" rtlCol="0" anchor="t">
            <a:spAutoFit/>
          </a:bodyPr>
          <a:lstStyle/>
          <a:p>
            <a:pPr algn="l" indent="0" marL="0">
              <a:lnSpc>
                <a:spcPts val="1300"/>
              </a:lnSpc>
              <a:buNone/>
            </a:pPr>
            <a:r>
              <a:rPr lang="en-US" sz="734" b="1" dirty="0">
                <a:solidFill>
                  <a:srgbClr val="004D68"/>
                </a:solidFill>
              </a:rPr>
              <a:t>Develop Interactive Tools:</a:t>
            </a:r>
            <a:pPr algn="l" indent="0" marL="0">
              <a:lnSpc>
                <a:spcPts val="1300"/>
              </a:lnSpc>
              <a:buNone/>
            </a:pPr>
            <a:r>
              <a:rPr lang="en-US" sz="780" dirty="0">
                <a:solidFill>
                  <a:srgbClr val="333333"/>
                </a:solidFill>
              </a:rPr>
              <a:t> Create dynamic dashboards for ongoing </a:t>
            </a:r>
            <a:pPr algn="l" indent="0" marL="0">
              <a:lnSpc>
                <a:spcPts val="1300"/>
              </a:lnSpc>
              <a:buNone/>
            </a:pPr>
            <a:r>
              <a:rPr lang="en-US" sz="780" dirty="0">
                <a:solidFill>
                  <a:srgbClr val="333333"/>
                </a:solidFill>
              </a:rPr>
              <a:t>business intelligence.</a:t>
            </a:r>
            <a:endParaRPr lang="en-US" sz="734" dirty="0"/>
          </a:p>
        </p:txBody>
      </p:sp>
      <p:sp>
        <p:nvSpPr>
          <p:cNvPr id="9" name="Text 6"/>
          <p:cNvSpPr/>
          <p:nvPr/>
        </p:nvSpPr>
        <p:spPr>
          <a:xfrm>
            <a:off x="571500" y="4410484"/>
            <a:ext cx="3643313" cy="321469"/>
          </a:xfrm>
          <a:prstGeom prst="rect">
            <a:avLst/>
          </a:prstGeom>
          <a:noFill/>
          <a:ln/>
        </p:spPr>
        <p:txBody>
          <a:bodyPr wrap="square" lIns="0" tIns="0" rIns="0" bIns="0" rtlCol="0" anchor="t">
            <a:spAutoFit/>
          </a:bodyPr>
          <a:lstStyle/>
          <a:p>
            <a:pPr algn="l" indent="0" marL="0">
              <a:lnSpc>
                <a:spcPts val="1300"/>
              </a:lnSpc>
              <a:buNone/>
            </a:pPr>
            <a:r>
              <a:rPr lang="en-US" sz="734" b="1" dirty="0">
                <a:solidFill>
                  <a:srgbClr val="004D68"/>
                </a:solidFill>
              </a:rPr>
              <a:t>Derive Actionable Insights:</a:t>
            </a:r>
            <a:pPr algn="l" indent="0" marL="0">
              <a:lnSpc>
                <a:spcPts val="1300"/>
              </a:lnSpc>
              <a:buNone/>
            </a:pPr>
            <a:r>
              <a:rPr lang="en-US" sz="780" dirty="0">
                <a:solidFill>
                  <a:srgbClr val="333333"/>
                </a:solidFill>
              </a:rPr>
              <a:t> Provide evidence-based recommendations </a:t>
            </a:r>
            <a:pPr algn="l" indent="0" marL="0">
              <a:lnSpc>
                <a:spcPts val="1300"/>
              </a:lnSpc>
              <a:buNone/>
            </a:pPr>
            <a:r>
              <a:rPr lang="en-US" sz="780" dirty="0">
                <a:solidFill>
                  <a:srgbClr val="333333"/>
                </a:solidFill>
              </a:rPr>
              <a:t>to enhance sales performance.</a:t>
            </a:r>
            <a:endParaRPr lang="en-US" sz="734" dirty="0"/>
          </a:p>
        </p:txBody>
      </p:sp>
      <p:sp>
        <p:nvSpPr>
          <p:cNvPr id="10" name="Shape 7"/>
          <p:cNvSpPr/>
          <p:nvPr/>
        </p:nvSpPr>
        <p:spPr>
          <a:xfrm>
            <a:off x="5107781" y="1107281"/>
            <a:ext cx="3214688" cy="3214688"/>
          </a:xfrm>
          <a:prstGeom prst="rect">
            <a:avLst/>
          </a:prstGeom>
          <a:solidFill>
            <a:srgbClr val="F8F9FA"/>
          </a:solidFill>
          <a:ln w="36576">
            <a:solidFill>
              <a:srgbClr val="4ECDC4"/>
            </a:solidFill>
            <a:prstDash val="solid"/>
          </a:ln>
        </p:spPr>
      </p:sp>
      <p:pic>
        <p:nvPicPr>
          <p:cNvPr id="11" name="Image 1" descr="preencoded.png">    </p:cNvPr>
          <p:cNvPicPr>
            <a:picLocks noChangeAspect="1"/>
          </p:cNvPicPr>
          <p:nvPr/>
        </p:nvPicPr>
        <p:blipFill>
          <a:blip r:embed="rId2"/>
          <a:stretch>
            <a:fillRect/>
          </a:stretch>
        </p:blipFill>
        <p:spPr>
          <a:xfrm>
            <a:off x="5107781" y="1107281"/>
            <a:ext cx="3214688" cy="32146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1064614"/>
            <a:ext cx="3893344" cy="594327"/>
          </a:xfrm>
          <a:prstGeom prst="rect">
            <a:avLst/>
          </a:prstGeom>
          <a:noFill/>
          <a:ln/>
        </p:spPr>
        <p:txBody>
          <a:bodyPr wrap="square" lIns="0" tIns="0" rIns="0" bIns="0" rtlCol="0" anchor="t">
            <a:spAutoFit/>
          </a:bodyPr>
          <a:lstStyle/>
          <a:p>
            <a:pPr algn="l" indent="0" marL="0">
              <a:lnSpc>
                <a:spcPts val="2300"/>
              </a:lnSpc>
              <a:buNone/>
            </a:pPr>
            <a:r>
              <a:rPr lang="en-US" sz="1602" b="1" dirty="0">
                <a:solidFill>
                  <a:srgbClr val="004D68"/>
                </a:solidFill>
              </a:rPr>
              <a:t>Stage 1: Data Cleaning and Integrity with SQL</a:t>
            </a:r>
            <a:endParaRPr lang="en-US" sz="1602" dirty="0"/>
          </a:p>
        </p:txBody>
      </p:sp>
      <p:sp>
        <p:nvSpPr>
          <p:cNvPr id="4" name="Text 1"/>
          <p:cNvSpPr/>
          <p:nvPr/>
        </p:nvSpPr>
        <p:spPr>
          <a:xfrm>
            <a:off x="428625" y="1766097"/>
            <a:ext cx="3893344" cy="68580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333333"/>
                </a:solidFill>
              </a:rPr>
              <a:t>Data integrity is paramount for reliable analysis. The initial phase involved utilizing SQL to systematically clean and prepare the raw sales data. This process ensures that all subsequent analyses are built upon a solid, consistent foundation.</a:t>
            </a:r>
            <a:endParaRPr lang="en-US" sz="780" dirty="0"/>
          </a:p>
        </p:txBody>
      </p:sp>
      <p:sp>
        <p:nvSpPr>
          <p:cNvPr id="5" name="Text 2"/>
          <p:cNvSpPr/>
          <p:nvPr/>
        </p:nvSpPr>
        <p:spPr>
          <a:xfrm>
            <a:off x="428625" y="2630491"/>
            <a:ext cx="3893344" cy="126802"/>
          </a:xfrm>
          <a:prstGeom prst="rect">
            <a:avLst/>
          </a:prstGeom>
          <a:noFill/>
          <a:ln/>
        </p:spPr>
        <p:txBody>
          <a:bodyPr wrap="none" lIns="0" tIns="0" rIns="0" bIns="0" rtlCol="0" anchor="t">
            <a:spAutoFit/>
          </a:bodyPr>
          <a:lstStyle/>
          <a:p>
            <a:pPr algn="l" indent="0" marL="0">
              <a:lnSpc>
                <a:spcPts val="900"/>
              </a:lnSpc>
              <a:buNone/>
            </a:pPr>
            <a:r>
              <a:rPr lang="en-US" sz="634" b="1" spc="1" kern="0" dirty="0">
                <a:solidFill>
                  <a:srgbClr val="007BFF"/>
                </a:solidFill>
              </a:rPr>
              <a:t>Core SQL Operations</a:t>
            </a:r>
            <a:endParaRPr lang="en-US" sz="634" dirty="0"/>
          </a:p>
        </p:txBody>
      </p:sp>
      <p:sp>
        <p:nvSpPr>
          <p:cNvPr id="6" name="Text 3"/>
          <p:cNvSpPr/>
          <p:nvPr/>
        </p:nvSpPr>
        <p:spPr>
          <a:xfrm>
            <a:off x="557213" y="2864448"/>
            <a:ext cx="3764756" cy="300038"/>
          </a:xfrm>
          <a:prstGeom prst="rect">
            <a:avLst/>
          </a:prstGeom>
          <a:noFill/>
          <a:ln/>
        </p:spPr>
        <p:txBody>
          <a:bodyPr wrap="square" lIns="0" tIns="0" rIns="0" bIns="0" rtlCol="0" anchor="t">
            <a:spAutoFit/>
          </a:bodyPr>
          <a:lstStyle/>
          <a:p>
            <a:pPr algn="l" indent="0" marL="0">
              <a:lnSpc>
                <a:spcPts val="1200"/>
              </a:lnSpc>
              <a:buNone/>
            </a:pPr>
            <a:r>
              <a:rPr lang="en-US" sz="683" b="1" dirty="0">
                <a:solidFill>
                  <a:srgbClr val="004D68"/>
                </a:solidFill>
              </a:rPr>
              <a:t>Standardization and Formatting:</a:t>
            </a:r>
            <a:pPr algn="l" indent="0" marL="0">
              <a:lnSpc>
                <a:spcPts val="1200"/>
              </a:lnSpc>
              <a:buNone/>
            </a:pPr>
            <a:r>
              <a:rPr lang="en-US" sz="727" dirty="0">
                <a:solidFill>
                  <a:srgbClr val="333333"/>
                </a:solidFill>
              </a:rPr>
              <a:t> Ensuring consistency across date formats, </a:t>
            </a:r>
            <a:pPr algn="l" indent="0" marL="0">
              <a:lnSpc>
                <a:spcPts val="1200"/>
              </a:lnSpc>
              <a:buNone/>
            </a:pPr>
            <a:r>
              <a:rPr lang="en-US" sz="727" dirty="0">
                <a:solidFill>
                  <a:srgbClr val="333333"/>
                </a:solidFill>
              </a:rPr>
              <a:t>product names, and unit measures.</a:t>
            </a:r>
            <a:endParaRPr lang="en-US" sz="683" dirty="0"/>
          </a:p>
        </p:txBody>
      </p:sp>
      <p:sp>
        <p:nvSpPr>
          <p:cNvPr id="7" name="Text 4"/>
          <p:cNvSpPr/>
          <p:nvPr/>
        </p:nvSpPr>
        <p:spPr>
          <a:xfrm>
            <a:off x="557213" y="3264498"/>
            <a:ext cx="3764756" cy="300038"/>
          </a:xfrm>
          <a:prstGeom prst="rect">
            <a:avLst/>
          </a:prstGeom>
          <a:noFill/>
          <a:ln/>
        </p:spPr>
        <p:txBody>
          <a:bodyPr wrap="square" lIns="0" tIns="0" rIns="0" bIns="0" rtlCol="0" anchor="t">
            <a:spAutoFit/>
          </a:bodyPr>
          <a:lstStyle/>
          <a:p>
            <a:pPr algn="l" indent="0" marL="0">
              <a:lnSpc>
                <a:spcPts val="1200"/>
              </a:lnSpc>
              <a:buNone/>
            </a:pPr>
            <a:r>
              <a:rPr lang="en-US" sz="683" b="1" dirty="0">
                <a:solidFill>
                  <a:srgbClr val="004D68"/>
                </a:solidFill>
              </a:rPr>
              <a:t>Missing Value Imputation:</a:t>
            </a:r>
            <a:pPr algn="l" indent="0" marL="0">
              <a:lnSpc>
                <a:spcPts val="1200"/>
              </a:lnSpc>
              <a:buNone/>
            </a:pPr>
            <a:r>
              <a:rPr lang="en-US" sz="727" dirty="0">
                <a:solidFill>
                  <a:srgbClr val="333333"/>
                </a:solidFill>
              </a:rPr>
              <a:t> Strategically handling null or missing entries to </a:t>
            </a:r>
            <a:pPr algn="l" indent="0" marL="0">
              <a:lnSpc>
                <a:spcPts val="1200"/>
              </a:lnSpc>
              <a:buNone/>
            </a:pPr>
            <a:r>
              <a:rPr lang="en-US" sz="727" dirty="0">
                <a:solidFill>
                  <a:srgbClr val="333333"/>
                </a:solidFill>
              </a:rPr>
              <a:t>prevent bias.</a:t>
            </a:r>
            <a:endParaRPr lang="en-US" sz="683" dirty="0"/>
          </a:p>
        </p:txBody>
      </p:sp>
      <p:sp>
        <p:nvSpPr>
          <p:cNvPr id="8" name="Text 5"/>
          <p:cNvSpPr/>
          <p:nvPr/>
        </p:nvSpPr>
        <p:spPr>
          <a:xfrm>
            <a:off x="557213" y="3664548"/>
            <a:ext cx="3764756" cy="300038"/>
          </a:xfrm>
          <a:prstGeom prst="rect">
            <a:avLst/>
          </a:prstGeom>
          <a:noFill/>
          <a:ln/>
        </p:spPr>
        <p:txBody>
          <a:bodyPr wrap="square" lIns="0" tIns="0" rIns="0" bIns="0" rtlCol="0" anchor="t">
            <a:spAutoFit/>
          </a:bodyPr>
          <a:lstStyle/>
          <a:p>
            <a:pPr algn="l" indent="0" marL="0">
              <a:lnSpc>
                <a:spcPts val="1200"/>
              </a:lnSpc>
              <a:buNone/>
            </a:pPr>
            <a:r>
              <a:rPr lang="en-US" sz="683" b="1" dirty="0">
                <a:solidFill>
                  <a:srgbClr val="004D68"/>
                </a:solidFill>
              </a:rPr>
              <a:t>Deduplication:</a:t>
            </a:r>
            <a:pPr algn="l" indent="0" marL="0">
              <a:lnSpc>
                <a:spcPts val="1200"/>
              </a:lnSpc>
              <a:buNone/>
            </a:pPr>
            <a:r>
              <a:rPr lang="en-US" sz="727" dirty="0">
                <a:solidFill>
                  <a:srgbClr val="333333"/>
                </a:solidFill>
              </a:rPr>
              <a:t> Identifying and removing redundant records to maintain data </a:t>
            </a:r>
            <a:pPr algn="l" indent="0" marL="0">
              <a:lnSpc>
                <a:spcPts val="1200"/>
              </a:lnSpc>
              <a:buNone/>
            </a:pPr>
            <a:r>
              <a:rPr lang="en-US" sz="727" dirty="0">
                <a:solidFill>
                  <a:srgbClr val="333333"/>
                </a:solidFill>
              </a:rPr>
              <a:t>accuracy.</a:t>
            </a:r>
            <a:endParaRPr lang="en-US" sz="683" dirty="0"/>
          </a:p>
        </p:txBody>
      </p:sp>
      <p:sp>
        <p:nvSpPr>
          <p:cNvPr id="9" name="Text 6"/>
          <p:cNvSpPr/>
          <p:nvPr/>
        </p:nvSpPr>
        <p:spPr>
          <a:xfrm>
            <a:off x="557213" y="4064598"/>
            <a:ext cx="3764756" cy="300038"/>
          </a:xfrm>
          <a:prstGeom prst="rect">
            <a:avLst/>
          </a:prstGeom>
          <a:noFill/>
          <a:ln/>
        </p:spPr>
        <p:txBody>
          <a:bodyPr wrap="square" lIns="0" tIns="0" rIns="0" bIns="0" rtlCol="0" anchor="t">
            <a:spAutoFit/>
          </a:bodyPr>
          <a:lstStyle/>
          <a:p>
            <a:pPr algn="l" indent="0" marL="0">
              <a:lnSpc>
                <a:spcPts val="1200"/>
              </a:lnSpc>
              <a:buNone/>
            </a:pPr>
            <a:r>
              <a:rPr lang="en-US" sz="683" b="1" dirty="0">
                <a:solidFill>
                  <a:srgbClr val="004D68"/>
                </a:solidFill>
              </a:rPr>
              <a:t>Data Transformation:</a:t>
            </a:r>
            <a:pPr algn="l" indent="0" marL="0">
              <a:lnSpc>
                <a:spcPts val="1200"/>
              </a:lnSpc>
              <a:buNone/>
            </a:pPr>
            <a:r>
              <a:rPr lang="en-US" sz="727" dirty="0">
                <a:solidFill>
                  <a:srgbClr val="333333"/>
                </a:solidFill>
              </a:rPr>
              <a:t> Creating new fields (e.g., calculating profit margins) </a:t>
            </a:r>
            <a:pPr algn="l" indent="0" marL="0">
              <a:lnSpc>
                <a:spcPts val="1200"/>
              </a:lnSpc>
              <a:buNone/>
            </a:pPr>
            <a:r>
              <a:rPr lang="en-US" sz="727" dirty="0">
                <a:solidFill>
                  <a:srgbClr val="333333"/>
                </a:solidFill>
              </a:rPr>
              <a:t>essential for advanced analysis.</a:t>
            </a:r>
            <a:endParaRPr lang="en-US" sz="683" dirty="0"/>
          </a:p>
        </p:txBody>
      </p:sp>
      <p:sp>
        <p:nvSpPr>
          <p:cNvPr id="10" name="Shape 7"/>
          <p:cNvSpPr/>
          <p:nvPr/>
        </p:nvSpPr>
        <p:spPr>
          <a:xfrm>
            <a:off x="4679156" y="1232297"/>
            <a:ext cx="3214688" cy="1428750"/>
          </a:xfrm>
          <a:prstGeom prst="rect">
            <a:avLst/>
          </a:prstGeom>
          <a:solidFill>
            <a:srgbClr val="F5F5F5"/>
          </a:solidFill>
          <a:ln w="18288">
            <a:solidFill>
              <a:srgbClr val="4ECDC4"/>
            </a:solidFill>
            <a:prstDash val="solid"/>
          </a:ln>
        </p:spPr>
      </p:sp>
      <p:pic>
        <p:nvPicPr>
          <p:cNvPr id="11" name="Image 1" descr="preencoded.png">    </p:cNvPr>
          <p:cNvPicPr>
            <a:picLocks noChangeAspect="1"/>
          </p:cNvPicPr>
          <p:nvPr/>
        </p:nvPicPr>
        <p:blipFill>
          <a:blip r:embed="rId2"/>
          <a:stretch>
            <a:fillRect/>
          </a:stretch>
        </p:blipFill>
        <p:spPr>
          <a:xfrm>
            <a:off x="4679156" y="1232297"/>
            <a:ext cx="3214688" cy="1428750"/>
          </a:xfrm>
          <a:prstGeom prst="rect">
            <a:avLst/>
          </a:prstGeom>
        </p:spPr>
      </p:pic>
      <p:sp>
        <p:nvSpPr>
          <p:cNvPr id="12" name="Shape 8"/>
          <p:cNvSpPr/>
          <p:nvPr/>
        </p:nvSpPr>
        <p:spPr>
          <a:xfrm>
            <a:off x="4679156" y="2768203"/>
            <a:ext cx="3214688" cy="1428750"/>
          </a:xfrm>
          <a:prstGeom prst="rect">
            <a:avLst/>
          </a:prstGeom>
          <a:solidFill>
            <a:srgbClr val="F5F5F5"/>
          </a:solidFill>
          <a:ln w="18288">
            <a:solidFill>
              <a:srgbClr val="4ECDC4"/>
            </a:solidFill>
            <a:prstDash val="solid"/>
          </a:ln>
        </p:spPr>
      </p:sp>
      <p:pic>
        <p:nvPicPr>
          <p:cNvPr id="13" name="Image 2" descr="preencoded.png">    </p:cNvPr>
          <p:cNvPicPr>
            <a:picLocks noChangeAspect="1"/>
          </p:cNvPicPr>
          <p:nvPr/>
        </p:nvPicPr>
        <p:blipFill>
          <a:blip r:embed="rId3"/>
          <a:stretch>
            <a:fillRect/>
          </a:stretch>
        </p:blipFill>
        <p:spPr>
          <a:xfrm>
            <a:off x="4679156" y="2768203"/>
            <a:ext cx="3214688" cy="14287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978024"/>
            <a:ext cx="3786188" cy="891490"/>
          </a:xfrm>
          <a:prstGeom prst="rect">
            <a:avLst/>
          </a:prstGeom>
          <a:noFill/>
          <a:ln/>
        </p:spPr>
        <p:txBody>
          <a:bodyPr wrap="square" lIns="0" tIns="0" rIns="0" bIns="0" rtlCol="0" anchor="t">
            <a:spAutoFit/>
          </a:bodyPr>
          <a:lstStyle/>
          <a:p>
            <a:pPr algn="l" indent="0" marL="0">
              <a:lnSpc>
                <a:spcPts val="2300"/>
              </a:lnSpc>
              <a:buNone/>
            </a:pPr>
            <a:r>
              <a:rPr lang="en-US" sz="1602" b="1" dirty="0">
                <a:solidFill>
                  <a:srgbClr val="004D68"/>
                </a:solidFill>
              </a:rPr>
              <a:t>Stage 2: Exploratory Data Analysis and Aggregation in Excel</a:t>
            </a:r>
            <a:endParaRPr lang="en-US" sz="1602" dirty="0"/>
          </a:p>
        </p:txBody>
      </p:sp>
      <p:sp>
        <p:nvSpPr>
          <p:cNvPr id="4" name="Text 1"/>
          <p:cNvSpPr/>
          <p:nvPr/>
        </p:nvSpPr>
        <p:spPr>
          <a:xfrm>
            <a:off x="428625" y="2012389"/>
            <a:ext cx="3786188"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33333"/>
                </a:solidFill>
              </a:rPr>
              <a:t>Following the cleaning phase, Microsoft Excel was employed for exploratory data analysis (EDA). This stage focused on rapid aggregation and summarization using **Pivot Tables** to uncover initial trends and anomalies in the pharmaceutical sales data.</a:t>
            </a:r>
            <a:endParaRPr lang="en-US" sz="834" dirty="0"/>
          </a:p>
        </p:txBody>
      </p:sp>
      <p:sp>
        <p:nvSpPr>
          <p:cNvPr id="5" name="Text 2"/>
          <p:cNvSpPr/>
          <p:nvPr/>
        </p:nvSpPr>
        <p:spPr>
          <a:xfrm>
            <a:off x="428625" y="2922436"/>
            <a:ext cx="3786188"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007BFF"/>
                </a:solidFill>
              </a:rPr>
              <a:t>Key Pivot Table Analysis</a:t>
            </a:r>
            <a:endParaRPr lang="en-US" sz="683" dirty="0"/>
          </a:p>
        </p:txBody>
      </p:sp>
      <p:sp>
        <p:nvSpPr>
          <p:cNvPr id="6" name="Text 3"/>
          <p:cNvSpPr/>
          <p:nvPr/>
        </p:nvSpPr>
        <p:spPr>
          <a:xfrm>
            <a:off x="571500" y="3165323"/>
            <a:ext cx="3643313"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004D68"/>
                </a:solidFill>
              </a:rPr>
              <a:t>Sales by Category:</a:t>
            </a:r>
            <a:pPr algn="l" indent="0" marL="0">
              <a:lnSpc>
                <a:spcPts val="1400"/>
              </a:lnSpc>
              <a:buNone/>
            </a:pPr>
            <a:r>
              <a:rPr lang="en-US" sz="834" dirty="0">
                <a:solidFill>
                  <a:srgbClr val="333333"/>
                </a:solidFill>
              </a:rPr>
              <a:t> Aggregating total sales and quantity sold </a:t>
            </a:r>
            <a:pPr algn="l" indent="0" marL="0">
              <a:lnSpc>
                <a:spcPts val="1400"/>
              </a:lnSpc>
              <a:buNone/>
            </a:pPr>
            <a:r>
              <a:rPr lang="en-US" sz="834" dirty="0">
                <a:solidFill>
                  <a:srgbClr val="333333"/>
                </a:solidFill>
              </a:rPr>
              <a:t>across different pharmaceutical categories.</a:t>
            </a:r>
            <a:endParaRPr lang="en-US" sz="784" dirty="0"/>
          </a:p>
        </p:txBody>
      </p:sp>
      <p:sp>
        <p:nvSpPr>
          <p:cNvPr id="7" name="Text 4"/>
          <p:cNvSpPr/>
          <p:nvPr/>
        </p:nvSpPr>
        <p:spPr>
          <a:xfrm>
            <a:off x="571500" y="3636811"/>
            <a:ext cx="3643313"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004D68"/>
                </a:solidFill>
              </a:rPr>
              <a:t>Regional Performance:</a:t>
            </a:r>
            <a:pPr algn="l" indent="0" marL="0">
              <a:lnSpc>
                <a:spcPts val="1400"/>
              </a:lnSpc>
              <a:buNone/>
            </a:pPr>
            <a:r>
              <a:rPr lang="en-US" sz="834" dirty="0">
                <a:solidFill>
                  <a:srgbClr val="333333"/>
                </a:solidFill>
              </a:rPr>
              <a:t> Summarizing sales metrics for various </a:t>
            </a:r>
            <a:pPr algn="l" indent="0" marL="0">
              <a:lnSpc>
                <a:spcPts val="1400"/>
              </a:lnSpc>
              <a:buNone/>
            </a:pPr>
            <a:r>
              <a:rPr lang="en-US" sz="834" dirty="0">
                <a:solidFill>
                  <a:srgbClr val="333333"/>
                </a:solidFill>
              </a:rPr>
              <a:t>geographical regions to identify top performers.</a:t>
            </a:r>
            <a:endParaRPr lang="en-US" sz="784" dirty="0"/>
          </a:p>
        </p:txBody>
      </p:sp>
      <p:sp>
        <p:nvSpPr>
          <p:cNvPr id="8" name="Text 5"/>
          <p:cNvSpPr/>
          <p:nvPr/>
        </p:nvSpPr>
        <p:spPr>
          <a:xfrm>
            <a:off x="571500" y="4108298"/>
            <a:ext cx="3643313"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004D68"/>
                </a:solidFill>
              </a:rPr>
              <a:t>Time-Series Aggregation:</a:t>
            </a:r>
            <a:pPr algn="l" indent="0" marL="0">
              <a:lnSpc>
                <a:spcPts val="1400"/>
              </a:lnSpc>
              <a:buNone/>
            </a:pPr>
            <a:r>
              <a:rPr lang="en-US" sz="834" dirty="0">
                <a:solidFill>
                  <a:srgbClr val="333333"/>
                </a:solidFill>
              </a:rPr>
              <a:t> Grouping data by month and quarter to </a:t>
            </a:r>
            <a:pPr algn="l" indent="0" marL="0">
              <a:lnSpc>
                <a:spcPts val="1400"/>
              </a:lnSpc>
              <a:buNone/>
            </a:pPr>
            <a:r>
              <a:rPr lang="en-US" sz="834" dirty="0">
                <a:solidFill>
                  <a:srgbClr val="333333"/>
                </a:solidFill>
              </a:rPr>
              <a:t>observe seasonality and growth patterns.</a:t>
            </a:r>
            <a:endParaRPr lang="en-US" sz="784" dirty="0"/>
          </a:p>
        </p:txBody>
      </p:sp>
      <p:sp>
        <p:nvSpPr>
          <p:cNvPr id="9" name="Shape 6"/>
          <p:cNvSpPr/>
          <p:nvPr/>
        </p:nvSpPr>
        <p:spPr>
          <a:xfrm>
            <a:off x="5107781" y="1107281"/>
            <a:ext cx="3214688" cy="3214688"/>
          </a:xfrm>
          <a:prstGeom prst="rect">
            <a:avLst/>
          </a:prstGeom>
          <a:solidFill>
            <a:srgbClr val="F8F9FA"/>
          </a:solidFill>
          <a:ln w="27432">
            <a:solidFill>
              <a:srgbClr val="007BFF"/>
            </a:solidFill>
            <a:prstDash val="solid"/>
          </a:ln>
        </p:spPr>
      </p:sp>
      <p:pic>
        <p:nvPicPr>
          <p:cNvPr id="10" name="Image 1" descr="preencoded.png">    </p:cNvPr>
          <p:cNvPicPr>
            <a:picLocks noChangeAspect="1"/>
          </p:cNvPicPr>
          <p:nvPr/>
        </p:nvPicPr>
        <p:blipFill>
          <a:blip r:embed="rId2"/>
          <a:stretch>
            <a:fillRect/>
          </a:stretch>
        </p:blipFill>
        <p:spPr>
          <a:xfrm>
            <a:off x="5107781" y="1107281"/>
            <a:ext cx="3214688" cy="32146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285750"/>
            <a:ext cx="8286750" cy="297163"/>
          </a:xfrm>
          <a:prstGeom prst="rect">
            <a:avLst/>
          </a:prstGeom>
          <a:noFill/>
          <a:ln/>
        </p:spPr>
        <p:txBody>
          <a:bodyPr wrap="none" lIns="0" tIns="0" rIns="0" bIns="0" rtlCol="0" anchor="t">
            <a:spAutoFit/>
          </a:bodyPr>
          <a:lstStyle/>
          <a:p>
            <a:pPr algn="l" indent="0" marL="0">
              <a:lnSpc>
                <a:spcPts val="2300"/>
              </a:lnSpc>
              <a:buNone/>
            </a:pPr>
            <a:r>
              <a:rPr lang="en-US" sz="1602" b="1" dirty="0">
                <a:solidFill>
                  <a:srgbClr val="004D68"/>
                </a:solidFill>
              </a:rPr>
              <a:t>Stage 2: Visualizing Key Trends with Excel Charts and Dashboards</a:t>
            </a:r>
            <a:endParaRPr lang="en-US" sz="1602" dirty="0"/>
          </a:p>
        </p:txBody>
      </p:sp>
      <p:sp>
        <p:nvSpPr>
          <p:cNvPr id="4" name="Text 1"/>
          <p:cNvSpPr/>
          <p:nvPr/>
        </p:nvSpPr>
        <p:spPr>
          <a:xfrm>
            <a:off x="428625" y="690070"/>
            <a:ext cx="8286750"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33333"/>
                </a:solidFill>
              </a:rPr>
              <a:t>The exploratory data analysis phase culminated in the creation of static visualizations within Excel. These charts provided an immediate, intuitive understanding of the data's distribution and trends, serving as a precursor to the interactive dashboards.</a:t>
            </a:r>
            <a:endParaRPr lang="en-US" sz="834" dirty="0"/>
          </a:p>
        </p:txBody>
      </p:sp>
      <p:sp>
        <p:nvSpPr>
          <p:cNvPr id="5" name="Text 2"/>
          <p:cNvSpPr/>
          <p:nvPr/>
        </p:nvSpPr>
        <p:spPr>
          <a:xfrm>
            <a:off x="428625" y="1198671"/>
            <a:ext cx="8286750"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007BFF"/>
                </a:solidFill>
              </a:rPr>
              <a:t>Key Visualizations</a:t>
            </a:r>
            <a:endParaRPr lang="en-US" sz="683" dirty="0"/>
          </a:p>
        </p:txBody>
      </p:sp>
      <p:sp>
        <p:nvSpPr>
          <p:cNvPr id="6" name="Text 3"/>
          <p:cNvSpPr/>
          <p:nvPr/>
        </p:nvSpPr>
        <p:spPr>
          <a:xfrm>
            <a:off x="542925" y="1420127"/>
            <a:ext cx="2552691" cy="160734"/>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004D68"/>
                </a:solidFill>
              </a:rPr>
              <a:t>Top-Selling Products</a:t>
            </a:r>
            <a:endParaRPr lang="en-US" sz="734" dirty="0"/>
          </a:p>
        </p:txBody>
      </p:sp>
      <p:sp>
        <p:nvSpPr>
          <p:cNvPr id="7" name="Text 4"/>
          <p:cNvSpPr/>
          <p:nvPr/>
        </p:nvSpPr>
        <p:spPr>
          <a:xfrm>
            <a:off x="542925" y="1616580"/>
            <a:ext cx="2400635"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333333"/>
                </a:solidFill>
              </a:rPr>
              <a:t>Bar charts illustrating the products contributing</a:t>
            </a:r>
            <a:endParaRPr lang="en-US" sz="780" dirty="0"/>
          </a:p>
        </p:txBody>
      </p:sp>
      <p:sp>
        <p:nvSpPr>
          <p:cNvPr id="8" name="Text 5"/>
          <p:cNvSpPr/>
          <p:nvPr/>
        </p:nvSpPr>
        <p:spPr>
          <a:xfrm>
            <a:off x="542925" y="1777315"/>
            <a:ext cx="851167"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333333"/>
                </a:solidFill>
              </a:rPr>
              <a:t>most to revenue.</a:t>
            </a:r>
            <a:endParaRPr lang="en-US" sz="780" dirty="0"/>
          </a:p>
        </p:txBody>
      </p:sp>
      <p:sp>
        <p:nvSpPr>
          <p:cNvPr id="9" name="Text 6"/>
          <p:cNvSpPr/>
          <p:nvPr/>
        </p:nvSpPr>
        <p:spPr>
          <a:xfrm>
            <a:off x="3352791" y="1420127"/>
            <a:ext cx="2552691" cy="160734"/>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004D68"/>
                </a:solidFill>
              </a:rPr>
              <a:t>Monthly Sales Performance</a:t>
            </a:r>
            <a:endParaRPr lang="en-US" sz="734" dirty="0"/>
          </a:p>
        </p:txBody>
      </p:sp>
      <p:sp>
        <p:nvSpPr>
          <p:cNvPr id="10" name="Text 7"/>
          <p:cNvSpPr/>
          <p:nvPr/>
        </p:nvSpPr>
        <p:spPr>
          <a:xfrm>
            <a:off x="3352791" y="1616580"/>
            <a:ext cx="2308045"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333333"/>
                </a:solidFill>
              </a:rPr>
              <a:t>Line charts tracking sales over time to identify</a:t>
            </a:r>
            <a:endParaRPr lang="en-US" sz="780" dirty="0"/>
          </a:p>
        </p:txBody>
      </p:sp>
      <p:sp>
        <p:nvSpPr>
          <p:cNvPr id="11" name="Text 8"/>
          <p:cNvSpPr/>
          <p:nvPr/>
        </p:nvSpPr>
        <p:spPr>
          <a:xfrm>
            <a:off x="3352791" y="1777315"/>
            <a:ext cx="680554"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333333"/>
                </a:solidFill>
              </a:rPr>
              <a:t>peak periods.</a:t>
            </a:r>
            <a:endParaRPr lang="en-US" sz="780" dirty="0"/>
          </a:p>
        </p:txBody>
      </p:sp>
      <p:sp>
        <p:nvSpPr>
          <p:cNvPr id="12" name="Text 9"/>
          <p:cNvSpPr/>
          <p:nvPr/>
        </p:nvSpPr>
        <p:spPr>
          <a:xfrm>
            <a:off x="6162656" y="1420127"/>
            <a:ext cx="2552719" cy="160734"/>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004D68"/>
                </a:solidFill>
              </a:rPr>
              <a:t>Regional Contribution</a:t>
            </a:r>
            <a:endParaRPr lang="en-US" sz="734" dirty="0"/>
          </a:p>
        </p:txBody>
      </p:sp>
      <p:sp>
        <p:nvSpPr>
          <p:cNvPr id="13" name="Text 10"/>
          <p:cNvSpPr/>
          <p:nvPr/>
        </p:nvSpPr>
        <p:spPr>
          <a:xfrm>
            <a:off x="6162656" y="1616580"/>
            <a:ext cx="2275480"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333333"/>
                </a:solidFill>
              </a:rPr>
              <a:t>Pie or map charts showing proportional sales</a:t>
            </a:r>
            <a:endParaRPr lang="en-US" sz="780" dirty="0"/>
          </a:p>
        </p:txBody>
      </p:sp>
      <p:sp>
        <p:nvSpPr>
          <p:cNvPr id="14" name="Text 11"/>
          <p:cNvSpPr/>
          <p:nvPr/>
        </p:nvSpPr>
        <p:spPr>
          <a:xfrm>
            <a:off x="6162656" y="1777315"/>
            <a:ext cx="651309"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333333"/>
                </a:solidFill>
              </a:rPr>
              <a:t>contribution.</a:t>
            </a:r>
            <a:endParaRPr lang="en-US" sz="780" dirty="0"/>
          </a:p>
        </p:txBody>
      </p:sp>
      <p:sp>
        <p:nvSpPr>
          <p:cNvPr id="15" name="Shape 12"/>
          <p:cNvSpPr/>
          <p:nvPr/>
        </p:nvSpPr>
        <p:spPr>
          <a:xfrm>
            <a:off x="1214438" y="2576354"/>
            <a:ext cx="3214688" cy="2143125"/>
          </a:xfrm>
          <a:prstGeom prst="rect">
            <a:avLst/>
          </a:prstGeom>
          <a:solidFill>
            <a:srgbClr val="F8F9FA"/>
          </a:solidFill>
          <a:ln w="18288">
            <a:solidFill>
              <a:srgbClr val="4ECDC4"/>
            </a:solidFill>
            <a:prstDash val="solid"/>
          </a:ln>
        </p:spPr>
      </p:sp>
      <p:pic>
        <p:nvPicPr>
          <p:cNvPr id="16" name="Image 1" descr="preencoded.png">    </p:cNvPr>
          <p:cNvPicPr>
            <a:picLocks noChangeAspect="1"/>
          </p:cNvPicPr>
          <p:nvPr/>
        </p:nvPicPr>
        <p:blipFill>
          <a:blip r:embed="rId2"/>
          <a:stretch>
            <a:fillRect/>
          </a:stretch>
        </p:blipFill>
        <p:spPr>
          <a:xfrm>
            <a:off x="1214438" y="2576354"/>
            <a:ext cx="3214688" cy="2143125"/>
          </a:xfrm>
          <a:prstGeom prst="rect">
            <a:avLst/>
          </a:prstGeom>
        </p:spPr>
      </p:pic>
      <p:sp>
        <p:nvSpPr>
          <p:cNvPr id="17" name="Text 13"/>
          <p:cNvSpPr/>
          <p:nvPr/>
        </p:nvSpPr>
        <p:spPr>
          <a:xfrm>
            <a:off x="2176890" y="4790917"/>
            <a:ext cx="1289782" cy="135731"/>
          </a:xfrm>
          <a:prstGeom prst="rect">
            <a:avLst/>
          </a:prstGeom>
          <a:noFill/>
          <a:ln/>
        </p:spPr>
        <p:txBody>
          <a:bodyPr wrap="none" lIns="0" tIns="0" rIns="0" bIns="0" rtlCol="0" anchor="t">
            <a:spAutoFit/>
          </a:bodyPr>
          <a:lstStyle/>
          <a:p>
            <a:pPr algn="ctr" indent="0" marL="0">
              <a:lnSpc>
                <a:spcPts val="900"/>
              </a:lnSpc>
              <a:buNone/>
            </a:pPr>
            <a:r>
              <a:rPr lang="en-US" sz="683" b="1" dirty="0">
                <a:solidFill>
                  <a:srgbClr val="004D68"/>
                </a:solidFill>
              </a:rPr>
              <a:t>Excel Dashboard Overview</a:t>
            </a:r>
            <a:endParaRPr lang="en-US" sz="683" dirty="0"/>
          </a:p>
        </p:txBody>
      </p:sp>
      <p:sp>
        <p:nvSpPr>
          <p:cNvPr id="18" name="Shape 14"/>
          <p:cNvSpPr/>
          <p:nvPr/>
        </p:nvSpPr>
        <p:spPr>
          <a:xfrm>
            <a:off x="4714875" y="2576354"/>
            <a:ext cx="3214688" cy="2143125"/>
          </a:xfrm>
          <a:prstGeom prst="rect">
            <a:avLst/>
          </a:prstGeom>
          <a:solidFill>
            <a:srgbClr val="F8F9FA"/>
          </a:solidFill>
          <a:ln w="18288">
            <a:solidFill>
              <a:srgbClr val="4ECDC4"/>
            </a:solidFill>
            <a:prstDash val="solid"/>
          </a:ln>
        </p:spPr>
      </p:sp>
      <p:pic>
        <p:nvPicPr>
          <p:cNvPr id="19" name="Image 2" descr="preencoded.png">    </p:cNvPr>
          <p:cNvPicPr>
            <a:picLocks noChangeAspect="1"/>
          </p:cNvPicPr>
          <p:nvPr/>
        </p:nvPicPr>
        <p:blipFill>
          <a:blip r:embed="rId3"/>
          <a:stretch>
            <a:fillRect/>
          </a:stretch>
        </p:blipFill>
        <p:spPr>
          <a:xfrm>
            <a:off x="4714875" y="2576354"/>
            <a:ext cx="3214688" cy="2143125"/>
          </a:xfrm>
          <a:prstGeom prst="rect">
            <a:avLst/>
          </a:prstGeom>
        </p:spPr>
      </p:pic>
      <p:sp>
        <p:nvSpPr>
          <p:cNvPr id="20" name="Text 15"/>
          <p:cNvSpPr/>
          <p:nvPr/>
        </p:nvSpPr>
        <p:spPr>
          <a:xfrm>
            <a:off x="5587724" y="4790917"/>
            <a:ext cx="1468989" cy="135731"/>
          </a:xfrm>
          <a:prstGeom prst="rect">
            <a:avLst/>
          </a:prstGeom>
          <a:noFill/>
          <a:ln/>
        </p:spPr>
        <p:txBody>
          <a:bodyPr wrap="none" lIns="0" tIns="0" rIns="0" bIns="0" rtlCol="0" anchor="t">
            <a:spAutoFit/>
          </a:bodyPr>
          <a:lstStyle/>
          <a:p>
            <a:pPr algn="ctr" indent="0" marL="0">
              <a:lnSpc>
                <a:spcPts val="900"/>
              </a:lnSpc>
              <a:buNone/>
            </a:pPr>
            <a:r>
              <a:rPr lang="en-US" sz="683" b="1" dirty="0">
                <a:solidFill>
                  <a:srgbClr val="004D68"/>
                </a:solidFill>
              </a:rPr>
              <a:t>Product Performance Analysis</a:t>
            </a:r>
            <a:endParaRPr lang="en-US" sz="683"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1026607"/>
            <a:ext cx="3893344" cy="594327"/>
          </a:xfrm>
          <a:prstGeom prst="rect">
            <a:avLst/>
          </a:prstGeom>
          <a:noFill/>
          <a:ln/>
        </p:spPr>
        <p:txBody>
          <a:bodyPr wrap="square" lIns="0" tIns="0" rIns="0" bIns="0" rtlCol="0" anchor="t">
            <a:spAutoFit/>
          </a:bodyPr>
          <a:lstStyle/>
          <a:p>
            <a:pPr algn="l" indent="0" marL="0">
              <a:lnSpc>
                <a:spcPts val="2300"/>
              </a:lnSpc>
              <a:buNone/>
            </a:pPr>
            <a:r>
              <a:rPr lang="en-US" sz="1602" b="1" dirty="0">
                <a:solidFill>
                  <a:srgbClr val="004D68"/>
                </a:solidFill>
              </a:rPr>
              <a:t>Stage 3: Interactive Business Intelligence with Power BI</a:t>
            </a:r>
            <a:endParaRPr lang="en-US" sz="1602" dirty="0"/>
          </a:p>
        </p:txBody>
      </p:sp>
      <p:sp>
        <p:nvSpPr>
          <p:cNvPr id="4" name="Text 1"/>
          <p:cNvSpPr/>
          <p:nvPr/>
        </p:nvSpPr>
        <p:spPr>
          <a:xfrm>
            <a:off x="428625" y="1728090"/>
            <a:ext cx="3893344"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33333"/>
                </a:solidFill>
              </a:rPr>
              <a:t>The final stage of the data pipeline involved migrating the cleaned and structured data to Power BI to build a dynamic, interactive dashboard. This tool empowers stakeholders to perform self-service analysis and drill down into specific data segments.</a:t>
            </a:r>
            <a:endParaRPr lang="en-US" sz="834" dirty="0"/>
          </a:p>
        </p:txBody>
      </p:sp>
      <p:sp>
        <p:nvSpPr>
          <p:cNvPr id="5" name="Text 2"/>
          <p:cNvSpPr/>
          <p:nvPr/>
        </p:nvSpPr>
        <p:spPr>
          <a:xfrm>
            <a:off x="428625" y="2638137"/>
            <a:ext cx="3893344"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007BFF"/>
                </a:solidFill>
              </a:rPr>
              <a:t>Dashboard Features</a:t>
            </a:r>
            <a:endParaRPr lang="en-US" sz="683" dirty="0"/>
          </a:p>
        </p:txBody>
      </p:sp>
      <p:sp>
        <p:nvSpPr>
          <p:cNvPr id="6" name="Text 3"/>
          <p:cNvSpPr/>
          <p:nvPr/>
        </p:nvSpPr>
        <p:spPr>
          <a:xfrm>
            <a:off x="557213" y="2859593"/>
            <a:ext cx="3764756" cy="321469"/>
          </a:xfrm>
          <a:prstGeom prst="rect">
            <a:avLst/>
          </a:prstGeom>
          <a:noFill/>
          <a:ln/>
        </p:spPr>
        <p:txBody>
          <a:bodyPr wrap="square" lIns="0" tIns="0" rIns="0" bIns="0" rtlCol="0" anchor="t">
            <a:spAutoFit/>
          </a:bodyPr>
          <a:lstStyle/>
          <a:p>
            <a:pPr algn="l" indent="0" marL="0">
              <a:lnSpc>
                <a:spcPts val="1300"/>
              </a:lnSpc>
              <a:buNone/>
            </a:pPr>
            <a:r>
              <a:rPr lang="en-US" sz="734" b="1" dirty="0">
                <a:solidFill>
                  <a:srgbClr val="004D68"/>
                </a:solidFill>
              </a:rPr>
              <a:t>Key Performance Indicators (KPIs):</a:t>
            </a:r>
            <a:pPr algn="l" indent="0" marL="0">
              <a:lnSpc>
                <a:spcPts val="1300"/>
              </a:lnSpc>
              <a:buNone/>
            </a:pPr>
            <a:r>
              <a:rPr lang="en-US" sz="780" dirty="0">
                <a:solidFill>
                  <a:srgbClr val="333333"/>
                </a:solidFill>
              </a:rPr>
              <a:t> Real-time tracking of total sales, </a:t>
            </a:r>
            <a:pPr algn="l" indent="0" marL="0">
              <a:lnSpc>
                <a:spcPts val="1300"/>
              </a:lnSpc>
              <a:buNone/>
            </a:pPr>
            <a:r>
              <a:rPr lang="en-US" sz="780" dirty="0">
                <a:solidFill>
                  <a:srgbClr val="333333"/>
                </a:solidFill>
              </a:rPr>
              <a:t>profit, and average transaction value.</a:t>
            </a:r>
            <a:endParaRPr lang="en-US" sz="734" dirty="0"/>
          </a:p>
        </p:txBody>
      </p:sp>
      <p:sp>
        <p:nvSpPr>
          <p:cNvPr id="7" name="Text 4"/>
          <p:cNvSpPr/>
          <p:nvPr/>
        </p:nvSpPr>
        <p:spPr>
          <a:xfrm>
            <a:off x="557213" y="3266787"/>
            <a:ext cx="3764756" cy="321469"/>
          </a:xfrm>
          <a:prstGeom prst="rect">
            <a:avLst/>
          </a:prstGeom>
          <a:noFill/>
          <a:ln/>
        </p:spPr>
        <p:txBody>
          <a:bodyPr wrap="square" lIns="0" tIns="0" rIns="0" bIns="0" rtlCol="0" anchor="t">
            <a:spAutoFit/>
          </a:bodyPr>
          <a:lstStyle/>
          <a:p>
            <a:pPr algn="l" indent="0" marL="0">
              <a:lnSpc>
                <a:spcPts val="1300"/>
              </a:lnSpc>
              <a:buNone/>
            </a:pPr>
            <a:r>
              <a:rPr lang="en-US" sz="734" b="1" dirty="0">
                <a:solidFill>
                  <a:srgbClr val="004D68"/>
                </a:solidFill>
              </a:rPr>
              <a:t>Dynamic Filtering:</a:t>
            </a:r>
            <a:pPr algn="l" indent="0" marL="0">
              <a:lnSpc>
                <a:spcPts val="1300"/>
              </a:lnSpc>
              <a:buNone/>
            </a:pPr>
            <a:r>
              <a:rPr lang="en-US" sz="780" dirty="0">
                <a:solidFill>
                  <a:srgbClr val="333333"/>
                </a:solidFill>
              </a:rPr>
              <a:t> Slicers allowing users to filter data by product, region, </a:t>
            </a:r>
            <a:pPr algn="l" indent="0" marL="0">
              <a:lnSpc>
                <a:spcPts val="1300"/>
              </a:lnSpc>
              <a:buNone/>
            </a:pPr>
            <a:r>
              <a:rPr lang="en-US" sz="780" dirty="0">
                <a:solidFill>
                  <a:srgbClr val="333333"/>
                </a:solidFill>
              </a:rPr>
              <a:t>and time period.</a:t>
            </a:r>
            <a:endParaRPr lang="en-US" sz="734" dirty="0"/>
          </a:p>
        </p:txBody>
      </p:sp>
      <p:sp>
        <p:nvSpPr>
          <p:cNvPr id="8" name="Text 5"/>
          <p:cNvSpPr/>
          <p:nvPr/>
        </p:nvSpPr>
        <p:spPr>
          <a:xfrm>
            <a:off x="557213" y="3673980"/>
            <a:ext cx="3764756" cy="321469"/>
          </a:xfrm>
          <a:prstGeom prst="rect">
            <a:avLst/>
          </a:prstGeom>
          <a:noFill/>
          <a:ln/>
        </p:spPr>
        <p:txBody>
          <a:bodyPr wrap="square" lIns="0" tIns="0" rIns="0" bIns="0" rtlCol="0" anchor="t">
            <a:spAutoFit/>
          </a:bodyPr>
          <a:lstStyle/>
          <a:p>
            <a:pPr algn="l" indent="0" marL="0">
              <a:lnSpc>
                <a:spcPts val="1300"/>
              </a:lnSpc>
              <a:buNone/>
            </a:pPr>
            <a:r>
              <a:rPr lang="en-US" sz="734" b="1" dirty="0">
                <a:solidFill>
                  <a:srgbClr val="004D68"/>
                </a:solidFill>
              </a:rPr>
              <a:t>Geographic Analysis:</a:t>
            </a:r>
            <a:pPr algn="l" indent="0" marL="0">
              <a:lnSpc>
                <a:spcPts val="1300"/>
              </a:lnSpc>
              <a:buNone/>
            </a:pPr>
            <a:r>
              <a:rPr lang="en-US" sz="780" dirty="0">
                <a:solidFill>
                  <a:srgbClr val="333333"/>
                </a:solidFill>
              </a:rPr>
              <a:t> Visualizing sales performance on a map for regional </a:t>
            </a:r>
            <a:pPr algn="l" indent="0" marL="0">
              <a:lnSpc>
                <a:spcPts val="1300"/>
              </a:lnSpc>
              <a:buNone/>
            </a:pPr>
            <a:r>
              <a:rPr lang="en-US" sz="780" dirty="0">
                <a:solidFill>
                  <a:srgbClr val="333333"/>
                </a:solidFill>
              </a:rPr>
              <a:t>comparison.</a:t>
            </a:r>
            <a:endParaRPr lang="en-US" sz="734" dirty="0"/>
          </a:p>
        </p:txBody>
      </p:sp>
      <p:sp>
        <p:nvSpPr>
          <p:cNvPr id="9" name="Text 6"/>
          <p:cNvSpPr/>
          <p:nvPr/>
        </p:nvSpPr>
        <p:spPr>
          <a:xfrm>
            <a:off x="557213" y="4081174"/>
            <a:ext cx="3764756" cy="321469"/>
          </a:xfrm>
          <a:prstGeom prst="rect">
            <a:avLst/>
          </a:prstGeom>
          <a:noFill/>
          <a:ln/>
        </p:spPr>
        <p:txBody>
          <a:bodyPr wrap="square" lIns="0" tIns="0" rIns="0" bIns="0" rtlCol="0" anchor="t">
            <a:spAutoFit/>
          </a:bodyPr>
          <a:lstStyle/>
          <a:p>
            <a:pPr algn="l" indent="0" marL="0">
              <a:lnSpc>
                <a:spcPts val="1300"/>
              </a:lnSpc>
              <a:buNone/>
            </a:pPr>
            <a:r>
              <a:rPr lang="en-US" sz="734" b="1" dirty="0">
                <a:solidFill>
                  <a:srgbClr val="004D68"/>
                </a:solidFill>
              </a:rPr>
              <a:t>Drill-Through Capability:</a:t>
            </a:r>
            <a:pPr algn="l" indent="0" marL="0">
              <a:lnSpc>
                <a:spcPts val="1300"/>
              </a:lnSpc>
              <a:buNone/>
            </a:pPr>
            <a:r>
              <a:rPr lang="en-US" sz="780" dirty="0">
                <a:solidFill>
                  <a:srgbClr val="333333"/>
                </a:solidFill>
              </a:rPr>
              <a:t> Enabling users to move from high-level </a:t>
            </a:r>
            <a:pPr algn="l" indent="0" marL="0">
              <a:lnSpc>
                <a:spcPts val="1300"/>
              </a:lnSpc>
              <a:buNone/>
            </a:pPr>
            <a:r>
              <a:rPr lang="en-US" sz="780" dirty="0">
                <a:solidFill>
                  <a:srgbClr val="333333"/>
                </a:solidFill>
              </a:rPr>
              <a:t>summary to detailed transaction data.</a:t>
            </a:r>
            <a:endParaRPr lang="en-US" sz="734" dirty="0"/>
          </a:p>
        </p:txBody>
      </p:sp>
      <p:pic>
        <p:nvPicPr>
          <p:cNvPr id="10" name="Image 1" descr="preencoded.png">    </p:cNvPr>
          <p:cNvPicPr>
            <a:picLocks noChangeAspect="1"/>
          </p:cNvPicPr>
          <p:nvPr/>
        </p:nvPicPr>
        <p:blipFill>
          <a:blip r:embed="rId2"/>
          <a:stretch>
            <a:fillRect/>
          </a:stretch>
        </p:blipFill>
        <p:spPr>
          <a:xfrm>
            <a:off x="5018484" y="1035844"/>
            <a:ext cx="3357563" cy="33575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1108760"/>
            <a:ext cx="3893344" cy="594327"/>
          </a:xfrm>
          <a:prstGeom prst="rect">
            <a:avLst/>
          </a:prstGeom>
          <a:noFill/>
          <a:ln/>
        </p:spPr>
        <p:txBody>
          <a:bodyPr wrap="square" lIns="0" tIns="0" rIns="0" bIns="0" rtlCol="0" anchor="t">
            <a:spAutoFit/>
          </a:bodyPr>
          <a:lstStyle/>
          <a:p>
            <a:pPr algn="l" indent="0" marL="0">
              <a:lnSpc>
                <a:spcPts val="2300"/>
              </a:lnSpc>
              <a:buNone/>
            </a:pPr>
            <a:r>
              <a:rPr lang="en-US" sz="1602" b="1" dirty="0">
                <a:solidFill>
                  <a:srgbClr val="004D68"/>
                </a:solidFill>
              </a:rPr>
              <a:t>Key Sales Insights: Strategic Findings from the Analysis</a:t>
            </a:r>
            <a:endParaRPr lang="en-US" sz="1602" dirty="0"/>
          </a:p>
        </p:txBody>
      </p:sp>
      <p:sp>
        <p:nvSpPr>
          <p:cNvPr id="4" name="Text 1"/>
          <p:cNvSpPr/>
          <p:nvPr/>
        </p:nvSpPr>
        <p:spPr>
          <a:xfrm>
            <a:off x="564356" y="1845962"/>
            <a:ext cx="3757613" cy="154288"/>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04D68"/>
                </a:solidFill>
              </a:rPr>
              <a:t>High-Growth Segments (Specialty Drugs)</a:t>
            </a:r>
            <a:endParaRPr lang="en-US" sz="885" dirty="0"/>
          </a:p>
        </p:txBody>
      </p:sp>
      <p:sp>
        <p:nvSpPr>
          <p:cNvPr id="5" name="Text 2"/>
          <p:cNvSpPr/>
          <p:nvPr/>
        </p:nvSpPr>
        <p:spPr>
          <a:xfrm>
            <a:off x="564356" y="2035969"/>
            <a:ext cx="3757613"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333333"/>
                </a:solidFill>
              </a:rPr>
              <a:t>Highest year-over-year growth is concentrated in the Specialty Drugs category, mandating increased investment and inventory focus.</a:t>
            </a:r>
            <a:endParaRPr lang="en-US" sz="780" dirty="0"/>
          </a:p>
        </p:txBody>
      </p:sp>
      <p:sp>
        <p:nvSpPr>
          <p:cNvPr id="6" name="Text 3"/>
          <p:cNvSpPr/>
          <p:nvPr/>
        </p:nvSpPr>
        <p:spPr>
          <a:xfrm>
            <a:off x="564356" y="2500313"/>
            <a:ext cx="3757613" cy="154288"/>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04D68"/>
                </a:solidFill>
              </a:rPr>
              <a:t>Regional Disparity (Region A Concentration)</a:t>
            </a:r>
            <a:endParaRPr lang="en-US" sz="885" dirty="0"/>
          </a:p>
        </p:txBody>
      </p:sp>
      <p:sp>
        <p:nvSpPr>
          <p:cNvPr id="7" name="Text 4"/>
          <p:cNvSpPr/>
          <p:nvPr/>
        </p:nvSpPr>
        <p:spPr>
          <a:xfrm>
            <a:off x="564356" y="2690320"/>
            <a:ext cx="3757613"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333333"/>
                </a:solidFill>
              </a:rPr>
              <a:t>Region A generates over 45% of total revenue, requiring targeted campaigns to elevate performance in underperforming regions.</a:t>
            </a:r>
            <a:endParaRPr lang="en-US" sz="780" dirty="0"/>
          </a:p>
        </p:txBody>
      </p:sp>
      <p:sp>
        <p:nvSpPr>
          <p:cNvPr id="8" name="Text 5"/>
          <p:cNvSpPr/>
          <p:nvPr/>
        </p:nvSpPr>
        <p:spPr>
          <a:xfrm>
            <a:off x="564356" y="3154663"/>
            <a:ext cx="3757613" cy="154288"/>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04D68"/>
                </a:solidFill>
              </a:rPr>
              <a:t>Seasonal Demand Peaks (Q4 Surge)</a:t>
            </a:r>
            <a:endParaRPr lang="en-US" sz="885" dirty="0"/>
          </a:p>
        </p:txBody>
      </p:sp>
      <p:sp>
        <p:nvSpPr>
          <p:cNvPr id="9" name="Text 6"/>
          <p:cNvSpPr/>
          <p:nvPr/>
        </p:nvSpPr>
        <p:spPr>
          <a:xfrm>
            <a:off x="564356" y="3344670"/>
            <a:ext cx="3757613"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333333"/>
                </a:solidFill>
              </a:rPr>
              <a:t>Consistent sales surge in the fourth quarter necessitates proactive inventory and logistics planning during Q3 to prevent stockouts.</a:t>
            </a:r>
            <a:endParaRPr lang="en-US" sz="780" dirty="0"/>
          </a:p>
        </p:txBody>
      </p:sp>
      <p:sp>
        <p:nvSpPr>
          <p:cNvPr id="10" name="Text 7"/>
          <p:cNvSpPr/>
          <p:nvPr/>
        </p:nvSpPr>
        <p:spPr>
          <a:xfrm>
            <a:off x="564356" y="3809014"/>
            <a:ext cx="3757613" cy="154288"/>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04D68"/>
                </a:solidFill>
              </a:rPr>
              <a:t>Inventory Optimization (Top 10 Products)</a:t>
            </a:r>
            <a:endParaRPr lang="en-US" sz="885" dirty="0"/>
          </a:p>
        </p:txBody>
      </p:sp>
      <p:sp>
        <p:nvSpPr>
          <p:cNvPr id="11" name="Text 8"/>
          <p:cNvSpPr/>
          <p:nvPr/>
        </p:nvSpPr>
        <p:spPr>
          <a:xfrm>
            <a:off x="564356" y="3999021"/>
            <a:ext cx="3757613"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333333"/>
                </a:solidFill>
              </a:rPr>
              <a:t>The top 10 products contribute to over 65% of total profit, making optimal stock levels for these high-value items critical.</a:t>
            </a:r>
            <a:endParaRPr lang="en-US" sz="780" dirty="0"/>
          </a:p>
        </p:txBody>
      </p:sp>
      <p:sp>
        <p:nvSpPr>
          <p:cNvPr id="12" name="Shape 9"/>
          <p:cNvSpPr/>
          <p:nvPr/>
        </p:nvSpPr>
        <p:spPr>
          <a:xfrm>
            <a:off x="4911328" y="928688"/>
            <a:ext cx="3571875" cy="3571875"/>
          </a:xfrm>
          <a:prstGeom prst="rect">
            <a:avLst/>
          </a:prstGeom>
          <a:solidFill>
            <a:srgbClr val="F8F9FA"/>
          </a:solidFill>
          <a:ln w="36576">
            <a:solidFill>
              <a:srgbClr val="4ECDC4"/>
            </a:solidFill>
            <a:prstDash val="solid"/>
          </a:ln>
        </p:spPr>
      </p:sp>
      <p:pic>
        <p:nvPicPr>
          <p:cNvPr id="13" name="Image 1" descr="preencoded.png">    </p:cNvPr>
          <p:cNvPicPr>
            <a:picLocks noChangeAspect="1"/>
          </p:cNvPicPr>
          <p:nvPr/>
        </p:nvPicPr>
        <p:blipFill>
          <a:blip r:embed="rId2"/>
          <a:stretch>
            <a:fillRect/>
          </a:stretch>
        </p:blipFill>
        <p:spPr>
          <a:xfrm>
            <a:off x="4911328" y="928688"/>
            <a:ext cx="3571875" cy="35718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0" y="285750"/>
            <a:ext cx="9144000" cy="297163"/>
          </a:xfrm>
          <a:prstGeom prst="rect">
            <a:avLst/>
          </a:prstGeom>
          <a:noFill/>
          <a:ln/>
        </p:spPr>
        <p:txBody>
          <a:bodyPr wrap="none" lIns="510286" tIns="0" rIns="510286" bIns="0" rtlCol="0" anchor="t">
            <a:spAutoFit/>
          </a:bodyPr>
          <a:lstStyle/>
          <a:p>
            <a:pPr algn="l" indent="0" marL="0">
              <a:lnSpc>
                <a:spcPts val="2300"/>
              </a:lnSpc>
              <a:buNone/>
            </a:pPr>
            <a:r>
              <a:rPr lang="en-US" sz="1602" b="1" dirty="0">
                <a:solidFill>
                  <a:srgbClr val="004D68"/>
                </a:solidFill>
              </a:rPr>
              <a:t>Conclusion: A Robust Data Pipeline for Business Intelligence</a:t>
            </a:r>
            <a:endParaRPr lang="en-US" sz="1602" dirty="0"/>
          </a:p>
        </p:txBody>
      </p:sp>
      <p:sp>
        <p:nvSpPr>
          <p:cNvPr id="4" name="Text 1"/>
          <p:cNvSpPr/>
          <p:nvPr/>
        </p:nvSpPr>
        <p:spPr>
          <a:xfrm>
            <a:off x="428625" y="797226"/>
            <a:ext cx="4000500" cy="291108"/>
          </a:xfrm>
          <a:prstGeom prst="rect">
            <a:avLst/>
          </a:prstGeom>
          <a:noFill/>
          <a:ln/>
        </p:spPr>
        <p:txBody>
          <a:bodyPr wrap="none" lIns="0" tIns="0" rIns="0" bIns="42545" rtlCol="0" anchor="t">
            <a:spAutoFit/>
          </a:bodyPr>
          <a:lstStyle/>
          <a:p>
            <a:pPr algn="l" indent="0" marL="0">
              <a:lnSpc>
                <a:spcPts val="1600"/>
              </a:lnSpc>
              <a:buNone/>
            </a:pPr>
            <a:r>
              <a:rPr lang="en-US" sz="1193" b="1" dirty="0">
                <a:solidFill>
                  <a:srgbClr val="007BFF"/>
                </a:solidFill>
              </a:rPr>
              <a:t>Project Summary: Pipeline Success</a:t>
            </a:r>
            <a:endParaRPr lang="en-US" sz="1193" dirty="0"/>
          </a:p>
        </p:txBody>
      </p:sp>
      <p:sp>
        <p:nvSpPr>
          <p:cNvPr id="5" name="Text 2"/>
          <p:cNvSpPr/>
          <p:nvPr/>
        </p:nvSpPr>
        <p:spPr>
          <a:xfrm>
            <a:off x="428625" y="1195490"/>
            <a:ext cx="4000500" cy="1462906"/>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33333"/>
                </a:solidFill>
              </a:rPr>
              <a:t>This project successfully established a comprehensive, multi-tool data pipeline, transforming raw pharmaceutical sales data into actionable strategic intelligence. By rigorously applying **SQL for data cleaning**, **Excel for exploratory analysis and visualization**, and **Power BI for interactive business intelligence**, we have demonstrated a complete, end-to-end solution for data-driven decision-making. The process has yielded four critical insights that can immediately inform sales and inventory strategies.</a:t>
            </a:r>
            <a:endParaRPr lang="en-US" sz="834" dirty="0"/>
          </a:p>
        </p:txBody>
      </p:sp>
      <p:sp>
        <p:nvSpPr>
          <p:cNvPr id="6" name="Text 3"/>
          <p:cNvSpPr/>
          <p:nvPr/>
        </p:nvSpPr>
        <p:spPr>
          <a:xfrm>
            <a:off x="4714875" y="797226"/>
            <a:ext cx="4000500" cy="291108"/>
          </a:xfrm>
          <a:prstGeom prst="rect">
            <a:avLst/>
          </a:prstGeom>
          <a:noFill/>
          <a:ln/>
        </p:spPr>
        <p:txBody>
          <a:bodyPr wrap="none" lIns="0" tIns="0" rIns="0" bIns="42545" rtlCol="0" anchor="t">
            <a:spAutoFit/>
          </a:bodyPr>
          <a:lstStyle/>
          <a:p>
            <a:pPr algn="l" indent="0" marL="0">
              <a:lnSpc>
                <a:spcPts val="1600"/>
              </a:lnSpc>
              <a:buNone/>
            </a:pPr>
            <a:r>
              <a:rPr lang="en-US" sz="1193" b="1" dirty="0">
                <a:solidFill>
                  <a:srgbClr val="007BFF"/>
                </a:solidFill>
              </a:rPr>
              <a:t>Future Work Recommendations</a:t>
            </a:r>
            <a:endParaRPr lang="en-US" sz="1193" dirty="0"/>
          </a:p>
        </p:txBody>
      </p:sp>
      <p:sp>
        <p:nvSpPr>
          <p:cNvPr id="7" name="Text 4"/>
          <p:cNvSpPr/>
          <p:nvPr/>
        </p:nvSpPr>
        <p:spPr>
          <a:xfrm>
            <a:off x="4843463" y="1195490"/>
            <a:ext cx="3871913"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004D68"/>
                </a:solidFill>
              </a:rPr>
              <a:t>Predictive Modeling:</a:t>
            </a:r>
            <a:pPr algn="l" indent="0" marL="0">
              <a:lnSpc>
                <a:spcPts val="1400"/>
              </a:lnSpc>
              <a:buNone/>
            </a:pPr>
            <a:r>
              <a:rPr lang="en-US" sz="834" dirty="0">
                <a:solidFill>
                  <a:srgbClr val="333333"/>
                </a:solidFill>
              </a:rPr>
              <a:t> Implement time-series forecasting models to </a:t>
            </a:r>
            <a:pPr algn="l" indent="0" marL="0">
              <a:lnSpc>
                <a:spcPts val="1400"/>
              </a:lnSpc>
              <a:buNone/>
            </a:pPr>
            <a:r>
              <a:rPr lang="en-US" sz="834" dirty="0">
                <a:solidFill>
                  <a:srgbClr val="333333"/>
                </a:solidFill>
              </a:rPr>
              <a:t>predict future sales volumes and optimize inventory levels proactively.</a:t>
            </a:r>
            <a:endParaRPr lang="en-US" sz="784" dirty="0"/>
          </a:p>
        </p:txBody>
      </p:sp>
      <p:sp>
        <p:nvSpPr>
          <p:cNvPr id="8" name="Text 5"/>
          <p:cNvSpPr/>
          <p:nvPr/>
        </p:nvSpPr>
        <p:spPr>
          <a:xfrm>
            <a:off x="4843463" y="1645546"/>
            <a:ext cx="3871913" cy="51435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004D68"/>
                </a:solidFill>
              </a:rPr>
              <a:t>Real-Time Reporting:</a:t>
            </a:r>
            <a:pPr algn="l" indent="0" marL="0">
              <a:lnSpc>
                <a:spcPts val="1400"/>
              </a:lnSpc>
              <a:buNone/>
            </a:pPr>
            <a:r>
              <a:rPr lang="en-US" sz="834" dirty="0">
                <a:solidFill>
                  <a:srgbClr val="333333"/>
                </a:solidFill>
              </a:rPr>
              <a:t> Integrate the data pipeline with live data sources </a:t>
            </a:r>
            <a:pPr algn="l" indent="0" marL="0">
              <a:lnSpc>
                <a:spcPts val="1400"/>
              </a:lnSpc>
              <a:buNone/>
            </a:pPr>
            <a:r>
              <a:rPr lang="en-US" sz="834" dirty="0">
                <a:solidFill>
                  <a:srgbClr val="333333"/>
                </a:solidFill>
              </a:rPr>
              <a:t>to enable near real-time performance monitoring and anomaly </a:t>
            </a:r>
            <a:pPr algn="l" indent="0" marL="0">
              <a:lnSpc>
                <a:spcPts val="1400"/>
              </a:lnSpc>
              <a:buNone/>
            </a:pPr>
            <a:r>
              <a:rPr lang="en-US" sz="834" dirty="0">
                <a:solidFill>
                  <a:srgbClr val="333333"/>
                </a:solidFill>
              </a:rPr>
              <a:t>detection.</a:t>
            </a:r>
            <a:endParaRPr lang="en-US" sz="784" dirty="0"/>
          </a:p>
        </p:txBody>
      </p:sp>
      <p:sp>
        <p:nvSpPr>
          <p:cNvPr id="9" name="Text 6"/>
          <p:cNvSpPr/>
          <p:nvPr/>
        </p:nvSpPr>
        <p:spPr>
          <a:xfrm>
            <a:off x="4843463" y="2267052"/>
            <a:ext cx="3871913" cy="51435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004D68"/>
                </a:solidFill>
              </a:rPr>
              <a:t>External Data Integration:</a:t>
            </a:r>
            <a:pPr algn="l" indent="0" marL="0">
              <a:lnSpc>
                <a:spcPts val="1400"/>
              </a:lnSpc>
              <a:buNone/>
            </a:pPr>
            <a:r>
              <a:rPr lang="en-US" sz="834" dirty="0">
                <a:solidFill>
                  <a:srgbClr val="333333"/>
                </a:solidFill>
              </a:rPr>
              <a:t> Incorporate external factors such as </a:t>
            </a:r>
            <a:pPr algn="l" indent="0" marL="0">
              <a:lnSpc>
                <a:spcPts val="1400"/>
              </a:lnSpc>
              <a:buNone/>
            </a:pPr>
            <a:r>
              <a:rPr lang="en-US" sz="834" dirty="0">
                <a:solidFill>
                  <a:srgbClr val="333333"/>
                </a:solidFill>
              </a:rPr>
              <a:t>economic indicators, competitor data, and public health trends for a </a:t>
            </a:r>
            <a:pPr algn="l" indent="0" marL="0">
              <a:lnSpc>
                <a:spcPts val="1400"/>
              </a:lnSpc>
              <a:buNone/>
            </a:pPr>
            <a:r>
              <a:rPr lang="en-US" sz="834" dirty="0">
                <a:solidFill>
                  <a:srgbClr val="333333"/>
                </a:solidFill>
              </a:rPr>
              <a:t>more holistic market analysis.</a:t>
            </a:r>
            <a:endParaRPr lang="en-US" sz="78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1727978" y="884765"/>
            <a:ext cx="5688044" cy="3373971"/>
          </a:xfrm>
          <a:prstGeom prst="rect">
            <a:avLst/>
          </a:prstGeom>
          <a:solidFill>
            <a:srgbClr val="FFFFFF">
              <a:alpha val="90000"/>
            </a:srgbClr>
          </a:solidFill>
          <a:ln/>
        </p:spPr>
      </p:sp>
      <p:sp>
        <p:nvSpPr>
          <p:cNvPr id="4" name="Text 1"/>
          <p:cNvSpPr/>
          <p:nvPr/>
        </p:nvSpPr>
        <p:spPr>
          <a:xfrm>
            <a:off x="3377096" y="1313390"/>
            <a:ext cx="2389808" cy="623292"/>
          </a:xfrm>
          <a:prstGeom prst="rect">
            <a:avLst/>
          </a:prstGeom>
          <a:noFill/>
          <a:ln/>
        </p:spPr>
        <p:txBody>
          <a:bodyPr wrap="none" lIns="0" tIns="0" rIns="0" bIns="0" rtlCol="0" anchor="t">
            <a:spAutoFit/>
          </a:bodyPr>
          <a:lstStyle/>
          <a:p>
            <a:pPr algn="ctr" indent="0" marL="0">
              <a:lnSpc>
                <a:spcPts val="4300"/>
              </a:lnSpc>
              <a:buNone/>
            </a:pPr>
            <a:r>
              <a:rPr lang="en-US" sz="3294" b="1" dirty="0">
                <a:solidFill>
                  <a:srgbClr val="004D68"/>
                </a:solidFill>
              </a:rPr>
              <a:t>Thank You</a:t>
            </a:r>
            <a:endParaRPr lang="en-US" sz="3294" dirty="0"/>
          </a:p>
        </p:txBody>
      </p:sp>
      <p:sp>
        <p:nvSpPr>
          <p:cNvPr id="5" name="Text 2"/>
          <p:cNvSpPr/>
          <p:nvPr/>
        </p:nvSpPr>
        <p:spPr>
          <a:xfrm>
            <a:off x="2997640" y="2008119"/>
            <a:ext cx="3148692" cy="489347"/>
          </a:xfrm>
          <a:prstGeom prst="rect">
            <a:avLst/>
          </a:prstGeom>
          <a:noFill/>
          <a:ln/>
        </p:spPr>
        <p:txBody>
          <a:bodyPr wrap="none" lIns="0" tIns="0" rIns="0" bIns="85090" rtlCol="0" anchor="t">
            <a:spAutoFit/>
          </a:bodyPr>
          <a:lstStyle/>
          <a:p>
            <a:pPr algn="ctr" indent="0" marL="0">
              <a:lnSpc>
                <a:spcPts val="2700"/>
              </a:lnSpc>
              <a:buNone/>
            </a:pPr>
            <a:r>
              <a:rPr lang="en-US" sz="2145" dirty="0">
                <a:solidFill>
                  <a:srgbClr val="007BFF"/>
                </a:solidFill>
              </a:rPr>
              <a:t>Questions &amp; Discussion</a:t>
            </a:r>
            <a:endParaRPr lang="en-US" sz="2145" dirty="0"/>
          </a:p>
        </p:txBody>
      </p:sp>
      <p:pic>
        <p:nvPicPr>
          <p:cNvPr id="6" name="Image 1" descr="preencoded.png">    </p:cNvPr>
          <p:cNvPicPr>
            <a:picLocks noChangeAspect="1"/>
          </p:cNvPicPr>
          <p:nvPr/>
        </p:nvPicPr>
        <p:blipFill>
          <a:blip r:embed="rId2"/>
          <a:stretch>
            <a:fillRect/>
          </a:stretch>
        </p:blipFill>
        <p:spPr>
          <a:xfrm>
            <a:off x="3780885" y="3118972"/>
            <a:ext cx="128588" cy="128588"/>
          </a:xfrm>
          <a:prstGeom prst="rect">
            <a:avLst/>
          </a:prstGeom>
        </p:spPr>
      </p:pic>
      <p:sp>
        <p:nvSpPr>
          <p:cNvPr id="7" name="Text 3"/>
          <p:cNvSpPr/>
          <p:nvPr/>
        </p:nvSpPr>
        <p:spPr>
          <a:xfrm>
            <a:off x="3980910" y="3095755"/>
            <a:ext cx="1382204" cy="175022"/>
          </a:xfrm>
          <a:prstGeom prst="rect">
            <a:avLst/>
          </a:prstGeom>
          <a:noFill/>
          <a:ln/>
        </p:spPr>
        <p:txBody>
          <a:bodyPr wrap="none" lIns="0" tIns="0" rIns="0" bIns="0" rtlCol="0" anchor="t">
            <a:spAutoFit/>
          </a:bodyPr>
          <a:lstStyle/>
          <a:p>
            <a:pPr algn="ctr" indent="0" marL="0">
              <a:lnSpc>
                <a:spcPts val="1800"/>
              </a:lnSpc>
              <a:buNone/>
            </a:pPr>
            <a:r>
              <a:rPr lang="en-US" sz="942" dirty="0">
                <a:solidFill>
                  <a:srgbClr val="333333"/>
                </a:solidFill>
              </a:rPr>
              <a:t>[Group Email Address]</a:t>
            </a:r>
            <a:endParaRPr lang="en-US" sz="942" dirty="0"/>
          </a:p>
        </p:txBody>
      </p:sp>
      <p:pic>
        <p:nvPicPr>
          <p:cNvPr id="8" name="Image 2" descr="preencoded.png">    </p:cNvPr>
          <p:cNvPicPr>
            <a:picLocks noChangeAspect="1"/>
          </p:cNvPicPr>
          <p:nvPr/>
        </p:nvPicPr>
        <p:blipFill>
          <a:blip r:embed="rId3"/>
          <a:stretch>
            <a:fillRect/>
          </a:stretch>
        </p:blipFill>
        <p:spPr>
          <a:xfrm>
            <a:off x="3721671" y="3350419"/>
            <a:ext cx="128588" cy="128588"/>
          </a:xfrm>
          <a:prstGeom prst="rect">
            <a:avLst/>
          </a:prstGeom>
        </p:spPr>
      </p:pic>
      <p:sp>
        <p:nvSpPr>
          <p:cNvPr id="9" name="Text 4"/>
          <p:cNvSpPr/>
          <p:nvPr/>
        </p:nvSpPr>
        <p:spPr>
          <a:xfrm>
            <a:off x="3921696" y="3327202"/>
            <a:ext cx="1500634" cy="175022"/>
          </a:xfrm>
          <a:prstGeom prst="rect">
            <a:avLst/>
          </a:prstGeom>
          <a:noFill/>
          <a:ln/>
        </p:spPr>
        <p:txBody>
          <a:bodyPr wrap="none" lIns="0" tIns="0" rIns="0" bIns="0" rtlCol="0" anchor="t">
            <a:spAutoFit/>
          </a:bodyPr>
          <a:lstStyle/>
          <a:p>
            <a:pPr algn="ctr" indent="0" marL="0">
              <a:lnSpc>
                <a:spcPts val="1800"/>
              </a:lnSpc>
              <a:buNone/>
            </a:pPr>
            <a:r>
              <a:rPr lang="en-US" sz="942" dirty="0">
                <a:solidFill>
                  <a:srgbClr val="333333"/>
                </a:solidFill>
              </a:rPr>
              <a:t>[Project Repository Link]</a:t>
            </a:r>
            <a:endParaRPr lang="en-US" sz="942" dirty="0"/>
          </a:p>
        </p:txBody>
      </p:sp>
      <p:sp>
        <p:nvSpPr>
          <p:cNvPr id="10" name="Text 5"/>
          <p:cNvSpPr/>
          <p:nvPr/>
        </p:nvSpPr>
        <p:spPr>
          <a:xfrm>
            <a:off x="2156603" y="3674734"/>
            <a:ext cx="4830794" cy="155377"/>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004D68"/>
                </a:solidFill>
              </a:rPr>
              <a:t>Joseph Maher | Kholoud Rashad | Ahmed Ashraf | Yehia Elhaytham | Nourhan Hashad</a:t>
            </a:r>
            <a:endParaRPr lang="en-US" sz="78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2025-11-29T08:46:53Z</dcterms:created>
  <dcterms:modified xsi:type="dcterms:W3CDTF">2025-11-29T08:46:53Z</dcterms:modified>
</cp:coreProperties>
</file>